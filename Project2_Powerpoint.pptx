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9" r:id="rId4"/>
    <p:sldId id="258" r:id="rId5"/>
    <p:sldId id="260" r:id="rId6"/>
    <p:sldId id="262" r:id="rId7"/>
    <p:sldId id="264" r:id="rId8"/>
    <p:sldId id="266" r:id="rId9"/>
    <p:sldId id="273" r:id="rId10"/>
    <p:sldId id="272" r:id="rId11"/>
    <p:sldId id="270" r:id="rId12"/>
    <p:sldId id="271"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745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CC10B-6815-6B6D-A246-543939142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911BB-54E5-FEC8-C021-7ADBD3533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09187-2D80-9A54-B24A-2C10614B5A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C47F99-6638-73DD-4F45-D889D9D10B1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760021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7DAE9-C3A6-2796-9C7C-8954E17D9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ED9A9-E121-1088-0ECC-DD6C06B29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DC521-2788-5A7E-06E8-5EABA95E80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E5C00E-8117-8113-D08E-4A5A28BE4CF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39514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F386-025C-5ED7-8944-ED4A694B6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5DCB1-42DE-C1CD-C86D-F1EE5368CE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262D3-67B7-BEDD-92D4-0640F43459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35DEF6-9E8E-3630-8C30-44E027C9732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826023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24A"/>
          </a:solidFill>
          <a:ln w="12700">
            <a:solidFill>
              <a:srgbClr val="E8624A"/>
            </a:solidFill>
            <a:prstDash val="solid"/>
          </a:ln>
        </p:spPr>
        <p:txBody>
          <a:bodyPr/>
          <a:lstStyle/>
          <a:p>
            <a:endParaRPr lang="en-US"/>
          </a:p>
        </p:txBody>
      </p:sp>
      <p:sp>
        <p:nvSpPr>
          <p:cNvPr id="3" name="Shape 1"/>
          <p:cNvSpPr/>
          <p:nvPr/>
        </p:nvSpPr>
        <p:spPr>
          <a:xfrm>
            <a:off x="8046720" y="457200"/>
            <a:ext cx="1371600" cy="1371600"/>
          </a:xfrm>
          <a:prstGeom prst="ellipse">
            <a:avLst/>
          </a:prstGeom>
          <a:solidFill>
            <a:srgbClr val="E8624A">
              <a:alpha val="20000"/>
            </a:srgbClr>
          </a:solidFill>
          <a:ln w="12700">
            <a:solidFill>
              <a:srgbClr val="E8624A">
                <a:alpha val="20000"/>
              </a:srgbClr>
            </a:solidFill>
            <a:prstDash val="solid"/>
          </a:ln>
        </p:spPr>
        <p:txBody>
          <a:bodyPr/>
          <a:lstStyle/>
          <a:p>
            <a:endParaRPr lang="en-US"/>
          </a:p>
        </p:txBody>
      </p:sp>
      <p:sp>
        <p:nvSpPr>
          <p:cNvPr id="4" name="Text 2"/>
          <p:cNvSpPr/>
          <p:nvPr/>
        </p:nvSpPr>
        <p:spPr>
          <a:xfrm>
            <a:off x="548640" y="1463040"/>
            <a:ext cx="7772400" cy="54864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Injury Risk in University Soccer Players</a:t>
            </a:r>
            <a:endParaRPr lang="en-US" sz="3400" dirty="0"/>
          </a:p>
        </p:txBody>
      </p:sp>
      <p:sp>
        <p:nvSpPr>
          <p:cNvPr id="5" name="Text 3"/>
          <p:cNvSpPr/>
          <p:nvPr/>
        </p:nvSpPr>
        <p:spPr>
          <a:xfrm>
            <a:off x="548640" y="2194560"/>
            <a:ext cx="6858000" cy="594360"/>
          </a:xfrm>
          <a:prstGeom prst="rect">
            <a:avLst/>
          </a:prstGeom>
          <a:noFill/>
          <a:ln/>
        </p:spPr>
        <p:txBody>
          <a:bodyPr wrap="square" lIns="0" tIns="0" rIns="0" bIns="0" rtlCol="0" anchor="ctr"/>
          <a:lstStyle/>
          <a:p>
            <a:pPr marL="0" indent="0">
              <a:buNone/>
            </a:pPr>
            <a:r>
              <a:rPr lang="en-US" sz="1500" dirty="0">
                <a:solidFill>
                  <a:srgbClr val="AAAAAA"/>
                </a:solidFill>
                <a:latin typeface="Calibri" pitchFamily="34" charset="0"/>
                <a:ea typeface="Calibri" pitchFamily="34" charset="-122"/>
                <a:cs typeface="Calibri" pitchFamily="34" charset="-120"/>
              </a:rPr>
              <a:t>Predicting Injury Risk with Data</a:t>
            </a:r>
          </a:p>
        </p:txBody>
      </p:sp>
      <p:sp>
        <p:nvSpPr>
          <p:cNvPr id="6" name="Shape 4"/>
          <p:cNvSpPr/>
          <p:nvPr/>
        </p:nvSpPr>
        <p:spPr>
          <a:xfrm>
            <a:off x="548640" y="2971800"/>
            <a:ext cx="1097280" cy="54864"/>
          </a:xfrm>
          <a:prstGeom prst="rect">
            <a:avLst/>
          </a:prstGeom>
          <a:solidFill>
            <a:srgbClr val="E8624A"/>
          </a:solidFill>
          <a:ln w="12700">
            <a:solidFill>
              <a:srgbClr val="E8624A"/>
            </a:solidFill>
            <a:prstDash val="solid"/>
          </a:ln>
        </p:spPr>
        <p:txBody>
          <a:bodyPr/>
          <a:lstStyle/>
          <a:p>
            <a:endParaRPr lang="en-US"/>
          </a:p>
        </p:txBody>
      </p:sp>
      <p:sp>
        <p:nvSpPr>
          <p:cNvPr id="7" name="Text 5"/>
          <p:cNvSpPr/>
          <p:nvPr/>
        </p:nvSpPr>
        <p:spPr>
          <a:xfrm>
            <a:off x="548640" y="3200400"/>
            <a:ext cx="6400800" cy="320040"/>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Tarun Vigneswaran &amp; Joseph Altmann  ·  4/6/26  ·  DSC 101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 Background and Overview</a:t>
            </a:r>
            <a:endParaRPr lang="en-US" sz="1800" dirty="0"/>
          </a:p>
        </p:txBody>
      </p:sp>
      <p:sp>
        <p:nvSpPr>
          <p:cNvPr id="8" name="Text 6"/>
          <p:cNvSpPr/>
          <p:nvPr/>
        </p:nvSpPr>
        <p:spPr>
          <a:xfrm>
            <a:off x="502920" y="914399"/>
            <a:ext cx="8001000" cy="3627621"/>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000" b="1" dirty="0">
                <a:solidFill>
                  <a:srgbClr val="1B2A4A"/>
                </a:solidFill>
                <a:latin typeface="Calibri" pitchFamily="34" charset="0"/>
                <a:ea typeface="Calibri" pitchFamily="34" charset="-122"/>
                <a:cs typeface="Calibri" pitchFamily="34" charset="-120"/>
              </a:rPr>
              <a:t>Dataset contains data for 800 Chinese university soccer players</a:t>
            </a:r>
          </a:p>
          <a:p>
            <a:pPr marL="342900" indent="-342900">
              <a:buFont typeface="Arial" panose="020B0604020202020204" pitchFamily="34" charset="0"/>
              <a:buChar char="•"/>
            </a:pPr>
            <a:r>
              <a:rPr lang="en-US" sz="2000" b="1" dirty="0">
                <a:solidFill>
                  <a:srgbClr val="1B2A4A"/>
                </a:solidFill>
                <a:latin typeface="Calibri" pitchFamily="34" charset="0"/>
                <a:ea typeface="Calibri" pitchFamily="34" charset="-122"/>
                <a:cs typeface="Calibri" pitchFamily="34" charset="-120"/>
              </a:rPr>
              <a:t>Includes 18 variables covering</a:t>
            </a:r>
          </a:p>
          <a:p>
            <a:pPr marL="800100" lvl="1" indent="-342900">
              <a:buFont typeface="Arial" panose="020B0604020202020204" pitchFamily="34" charset="0"/>
              <a:buChar char="•"/>
            </a:pPr>
            <a:r>
              <a:rPr lang="en-US" sz="2000" dirty="0">
                <a:solidFill>
                  <a:srgbClr val="1B2A4A"/>
                </a:solidFill>
                <a:latin typeface="Calibri" pitchFamily="34" charset="0"/>
                <a:ea typeface="Calibri" pitchFamily="34" charset="-122"/>
                <a:cs typeface="Calibri" pitchFamily="34" charset="-120"/>
              </a:rPr>
              <a:t>Basic information (age, height, weight, etc.)</a:t>
            </a:r>
          </a:p>
          <a:p>
            <a:pPr marL="800100" lvl="1" indent="-342900">
              <a:buFont typeface="Arial" panose="020B0604020202020204" pitchFamily="34" charset="0"/>
              <a:buChar char="•"/>
            </a:pPr>
            <a:r>
              <a:rPr lang="en-US" sz="2000" dirty="0">
                <a:solidFill>
                  <a:srgbClr val="1B2A4A"/>
                </a:solidFill>
                <a:latin typeface="Calibri" pitchFamily="34" charset="0"/>
                <a:ea typeface="Calibri" pitchFamily="34" charset="-122"/>
                <a:cs typeface="Calibri" pitchFamily="34" charset="-120"/>
              </a:rPr>
              <a:t>Physical fitness (agility, sprint speed, balance, flexibility, etc.)</a:t>
            </a:r>
          </a:p>
          <a:p>
            <a:pPr marL="800100" lvl="1" indent="-342900">
              <a:buFont typeface="Arial" panose="020B0604020202020204" pitchFamily="34" charset="0"/>
              <a:buChar char="•"/>
            </a:pPr>
            <a:r>
              <a:rPr lang="en-US" sz="2000" dirty="0">
                <a:solidFill>
                  <a:srgbClr val="1B2A4A"/>
                </a:solidFill>
                <a:latin typeface="Calibri" pitchFamily="34" charset="0"/>
                <a:ea typeface="Calibri" pitchFamily="34" charset="-122"/>
                <a:cs typeface="Calibri" pitchFamily="34" charset="-120"/>
              </a:rPr>
              <a:t>Training factors (training hours, matches played, etc.)</a:t>
            </a:r>
          </a:p>
          <a:p>
            <a:pPr marL="800100" lvl="1" indent="-342900">
              <a:buFont typeface="Arial" panose="020B0604020202020204" pitchFamily="34" charset="0"/>
              <a:buChar char="•"/>
            </a:pPr>
            <a:r>
              <a:rPr lang="en-US" sz="2000" dirty="0">
                <a:solidFill>
                  <a:srgbClr val="1B2A4A"/>
                </a:solidFill>
                <a:latin typeface="Calibri" pitchFamily="34" charset="0"/>
                <a:ea typeface="Calibri" pitchFamily="34" charset="-122"/>
                <a:cs typeface="Calibri" pitchFamily="34" charset="-120"/>
              </a:rPr>
              <a:t>Lifestyle Habits (sleep, stress, nutrition, warmup routine)</a:t>
            </a:r>
          </a:p>
          <a:p>
            <a:pPr marL="800100" lvl="1" indent="-342900">
              <a:buFont typeface="Arial" panose="020B0604020202020204" pitchFamily="34" charset="0"/>
              <a:buChar char="•"/>
            </a:pPr>
            <a:r>
              <a:rPr lang="en-US" sz="2000" dirty="0">
                <a:solidFill>
                  <a:srgbClr val="1B2A4A"/>
                </a:solidFill>
                <a:latin typeface="Calibri" pitchFamily="34" charset="0"/>
                <a:ea typeface="Calibri" pitchFamily="34" charset="-122"/>
                <a:cs typeface="Calibri" pitchFamily="34" charset="-120"/>
              </a:rPr>
              <a:t>Injury outcome</a:t>
            </a:r>
          </a:p>
          <a:p>
            <a:pPr lvl="1"/>
            <a:endParaRPr lang="en-US" sz="2000" b="1" dirty="0">
              <a:solidFill>
                <a:srgbClr val="1B2A4A"/>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2000" b="1" dirty="0">
                <a:solidFill>
                  <a:srgbClr val="1B2A4A"/>
                </a:solidFill>
                <a:latin typeface="Calibri" pitchFamily="34" charset="0"/>
                <a:ea typeface="Calibri" pitchFamily="34" charset="-122"/>
                <a:cs typeface="Calibri" pitchFamily="34" charset="-120"/>
              </a:rPr>
              <a:t>Data obtained from Kaggle, originates from a comprehensive study done by the university using medical records, coach reports, and student surveys. Published in Scientific Reports (2025)</a:t>
            </a:r>
          </a:p>
          <a:p>
            <a:pPr marL="342900" indent="-342900">
              <a:buFont typeface="Arial" panose="020B0604020202020204" pitchFamily="34" charset="0"/>
              <a:buChar char="•"/>
            </a:pPr>
            <a:endParaRPr lang="en-US" sz="2000" b="1" dirty="0">
              <a:solidFill>
                <a:srgbClr val="1B2A4A"/>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endParaRPr lang="en-US" sz="2000" dirty="0"/>
          </a:p>
        </p:txBody>
      </p:sp>
      <p:sp>
        <p:nvSpPr>
          <p:cNvPr id="9" name="Text 7"/>
          <p:cNvSpPr/>
          <p:nvPr/>
        </p:nvSpPr>
        <p:spPr>
          <a:xfrm>
            <a:off x="502920" y="1508760"/>
            <a:ext cx="8138160" cy="137160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Research Objectives</a:t>
            </a:r>
          </a:p>
        </p:txBody>
      </p:sp>
      <p:sp>
        <p:nvSpPr>
          <p:cNvPr id="8" name="Text 6"/>
          <p:cNvSpPr/>
          <p:nvPr/>
        </p:nvSpPr>
        <p:spPr>
          <a:xfrm>
            <a:off x="502920" y="914400"/>
            <a:ext cx="8138160" cy="457200"/>
          </a:xfrm>
          <a:prstGeom prst="rect">
            <a:avLst/>
          </a:prstGeom>
          <a:noFill/>
          <a:ln/>
        </p:spPr>
        <p:txBody>
          <a:bodyPr wrap="square" lIns="0" tIns="0" rIns="0" bIns="0" rtlCol="0" anchor="ctr"/>
          <a:lstStyle/>
          <a:p>
            <a:pPr marL="0" indent="0">
              <a:buNone/>
            </a:pPr>
            <a:r>
              <a:rPr lang="en-US" sz="2000" b="1" dirty="0">
                <a:solidFill>
                  <a:srgbClr val="1B2A4A"/>
                </a:solidFill>
                <a:latin typeface="Calibri" pitchFamily="34" charset="0"/>
                <a:ea typeface="Calibri" pitchFamily="34" charset="-122"/>
                <a:cs typeface="Calibri" pitchFamily="34" charset="-120"/>
              </a:rPr>
              <a:t>Primary Goal</a:t>
            </a:r>
            <a:endParaRPr lang="en-US" sz="2000" dirty="0"/>
          </a:p>
        </p:txBody>
      </p:sp>
      <p:sp>
        <p:nvSpPr>
          <p:cNvPr id="9" name="Text 7"/>
          <p:cNvSpPr/>
          <p:nvPr/>
        </p:nvSpPr>
        <p:spPr>
          <a:xfrm>
            <a:off x="502920" y="2055114"/>
            <a:ext cx="8138160" cy="137160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t>The primary goal of this project is to explore how training load, previous injury history, physical fitness metrics, and lifestyle habits relate to injury risk in university soccer players.</a:t>
            </a:r>
          </a:p>
          <a:p>
            <a:pPr marL="285750" indent="-285750">
              <a:buFont typeface="Arial" panose="020B0604020202020204" pitchFamily="34" charset="0"/>
              <a:buChar char="•"/>
            </a:pPr>
            <a:r>
              <a:rPr lang="en-US" dirty="0"/>
              <a:t>This project aims to identify which factors appear most strongly associated with injuries and how those insights could support evidence-based prevention strategies. </a:t>
            </a:r>
          </a:p>
          <a:p>
            <a:pPr marL="285750" indent="-285750">
              <a:buFont typeface="Arial" panose="020B0604020202020204" pitchFamily="34" charset="0"/>
              <a:buChar char="•"/>
            </a:pPr>
            <a:r>
              <a:rPr lang="en-US" dirty="0"/>
              <a:t>By understanding these relationships, sports programs can develop targeted interventions to reduce injury rates and protect athlete health.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Exploratory Data Analysis</a:t>
            </a:r>
            <a:endParaRPr lang="en-US" sz="1800" dirty="0"/>
          </a:p>
        </p:txBody>
      </p:sp>
      <p:sp>
        <p:nvSpPr>
          <p:cNvPr id="8" name="Shape 6"/>
          <p:cNvSpPr/>
          <p:nvPr/>
        </p:nvSpPr>
        <p:spPr>
          <a:xfrm>
            <a:off x="44970" y="876925"/>
            <a:ext cx="4434840" cy="3642610"/>
          </a:xfrm>
          <a:prstGeom prst="rect">
            <a:avLst/>
          </a:prstGeom>
          <a:solidFill>
            <a:srgbClr val="F5F5F5"/>
          </a:solidFill>
          <a:ln w="12700">
            <a:solidFill>
              <a:srgbClr val="DDDDDD"/>
            </a:solidFill>
            <a:prstDash val="solid"/>
          </a:ln>
        </p:spPr>
        <p:txBody>
          <a:bodyPr/>
          <a:lstStyle/>
          <a:p>
            <a:endParaRPr lang="en-US"/>
          </a:p>
        </p:txBody>
      </p:sp>
      <p:sp>
        <p:nvSpPr>
          <p:cNvPr id="9" name="Text 7"/>
          <p:cNvSpPr/>
          <p:nvPr/>
        </p:nvSpPr>
        <p:spPr>
          <a:xfrm>
            <a:off x="320040" y="777240"/>
            <a:ext cx="4114800" cy="4229100"/>
          </a:xfrm>
          <a:prstGeom prst="rect">
            <a:avLst/>
          </a:prstGeom>
          <a:noFill/>
          <a:ln/>
        </p:spPr>
        <p:txBody>
          <a:bodyPr wrap="square" lIns="0" tIns="0" rIns="0" bIns="0" rtlCol="0" anchor="ctr"/>
          <a:lstStyle/>
          <a:p>
            <a:pPr marL="0" indent="0" algn="ctr">
              <a:buNone/>
            </a:pPr>
            <a:r>
              <a:rPr lang="en-US" sz="1400" dirty="0">
                <a:solidFill>
                  <a:srgbClr val="DDDDDD"/>
                </a:solidFill>
                <a:latin typeface="Calibri" pitchFamily="34" charset="0"/>
                <a:ea typeface="Calibri" pitchFamily="34" charset="-122"/>
                <a:cs typeface="Calibri" pitchFamily="34" charset="-120"/>
              </a:rPr>
              <a:t>[ Image ]</a:t>
            </a:r>
            <a:endParaRPr lang="en-US" sz="1400" dirty="0"/>
          </a:p>
        </p:txBody>
      </p:sp>
      <p:sp>
        <p:nvSpPr>
          <p:cNvPr id="10" name="Text 8"/>
          <p:cNvSpPr/>
          <p:nvPr/>
        </p:nvSpPr>
        <p:spPr>
          <a:xfrm>
            <a:off x="4709160" y="960120"/>
            <a:ext cx="411480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Descriptive Statistics for Numerical Variables</a:t>
            </a:r>
            <a:endParaRPr lang="en-US" sz="1600" dirty="0"/>
          </a:p>
        </p:txBody>
      </p:sp>
      <p:sp>
        <p:nvSpPr>
          <p:cNvPr id="11" name="Text 9"/>
          <p:cNvSpPr/>
          <p:nvPr/>
        </p:nvSpPr>
        <p:spPr>
          <a:xfrm>
            <a:off x="4709160" y="777240"/>
            <a:ext cx="4114800" cy="2011680"/>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Each variable has a numeric value associated with it to compare each player effectively</a:t>
            </a:r>
            <a:endParaRPr lang="en-US" sz="1250" dirty="0"/>
          </a:p>
        </p:txBody>
      </p:sp>
      <p:pic>
        <p:nvPicPr>
          <p:cNvPr id="13" name="Picture 12">
            <a:extLst>
              <a:ext uri="{FF2B5EF4-FFF2-40B4-BE49-F238E27FC236}">
                <a16:creationId xmlns:a16="http://schemas.microsoft.com/office/drawing/2014/main" id="{8F915D9B-AE81-7932-6A00-29940473AF85}"/>
              </a:ext>
            </a:extLst>
          </p:cNvPr>
          <p:cNvPicPr>
            <a:picLocks noChangeAspect="1"/>
          </p:cNvPicPr>
          <p:nvPr/>
        </p:nvPicPr>
        <p:blipFill>
          <a:blip r:embed="rId3"/>
          <a:stretch>
            <a:fillRect/>
          </a:stretch>
        </p:blipFill>
        <p:spPr>
          <a:xfrm>
            <a:off x="194765" y="1041816"/>
            <a:ext cx="4123947" cy="3295363"/>
          </a:xfrm>
          <a:prstGeom prst="rect">
            <a:avLst/>
          </a:prstGeom>
        </p:spPr>
      </p:pic>
      <p:pic>
        <p:nvPicPr>
          <p:cNvPr id="17" name="Picture 16">
            <a:extLst>
              <a:ext uri="{FF2B5EF4-FFF2-40B4-BE49-F238E27FC236}">
                <a16:creationId xmlns:a16="http://schemas.microsoft.com/office/drawing/2014/main" id="{FF2A529E-5DC4-598F-94E9-F1FCEE645BCD}"/>
              </a:ext>
            </a:extLst>
          </p:cNvPr>
          <p:cNvPicPr>
            <a:picLocks noChangeAspect="1"/>
          </p:cNvPicPr>
          <p:nvPr/>
        </p:nvPicPr>
        <p:blipFill>
          <a:blip r:embed="rId4"/>
          <a:stretch>
            <a:fillRect/>
          </a:stretch>
        </p:blipFill>
        <p:spPr>
          <a:xfrm>
            <a:off x="4897286" y="2106125"/>
            <a:ext cx="3686030" cy="2559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Key Variable Value Distribution</a:t>
            </a:r>
            <a:endParaRPr lang="en-US" sz="1800" dirty="0"/>
          </a:p>
        </p:txBody>
      </p:sp>
      <p:sp>
        <p:nvSpPr>
          <p:cNvPr id="9" name="Text 7"/>
          <p:cNvSpPr/>
          <p:nvPr/>
        </p:nvSpPr>
        <p:spPr>
          <a:xfrm>
            <a:off x="54864" y="1239412"/>
            <a:ext cx="4114800" cy="2011680"/>
          </a:xfrm>
          <a:prstGeom prst="rect">
            <a:avLst/>
          </a:prstGeom>
          <a:noFill/>
          <a:ln/>
        </p:spPr>
        <p:txBody>
          <a:bodyPr wrap="square" lIns="0" tIns="0" rIns="0" bIns="0" rtlCol="0" anchor="ctr"/>
          <a:lstStyle/>
          <a:p>
            <a:pPr marL="0" indent="0">
              <a:buNone/>
            </a:pPr>
            <a:endParaRPr lang="en-US" sz="1250" dirty="0"/>
          </a:p>
        </p:txBody>
      </p:sp>
      <p:sp>
        <p:nvSpPr>
          <p:cNvPr id="10" name="Shape 8"/>
          <p:cNvSpPr/>
          <p:nvPr/>
        </p:nvSpPr>
        <p:spPr>
          <a:xfrm>
            <a:off x="951874" y="665001"/>
            <a:ext cx="7225035" cy="4038275"/>
          </a:xfrm>
          <a:prstGeom prst="rect">
            <a:avLst/>
          </a:prstGeom>
          <a:solidFill>
            <a:srgbClr val="F5F5F5"/>
          </a:solidFill>
          <a:ln w="12700">
            <a:solidFill>
              <a:srgbClr val="DDDDDD"/>
            </a:solidFill>
            <a:prstDash val="solid"/>
          </a:ln>
        </p:spPr>
        <p:txBody>
          <a:bodyPr/>
          <a:lstStyle/>
          <a:p>
            <a:endParaRPr lang="en-US"/>
          </a:p>
        </p:txBody>
      </p:sp>
      <p:sp>
        <p:nvSpPr>
          <p:cNvPr id="11" name="Text 9"/>
          <p:cNvSpPr/>
          <p:nvPr/>
        </p:nvSpPr>
        <p:spPr>
          <a:xfrm>
            <a:off x="4709160" y="777240"/>
            <a:ext cx="4114800" cy="4229100"/>
          </a:xfrm>
          <a:prstGeom prst="rect">
            <a:avLst/>
          </a:prstGeom>
          <a:noFill/>
          <a:ln/>
        </p:spPr>
        <p:txBody>
          <a:bodyPr wrap="square" lIns="0" tIns="0" rIns="0" bIns="0" rtlCol="0" anchor="ctr"/>
          <a:lstStyle/>
          <a:p>
            <a:pPr marL="0" indent="0" algn="ctr">
              <a:buNone/>
            </a:pPr>
            <a:r>
              <a:rPr lang="en-US" sz="1400" dirty="0">
                <a:solidFill>
                  <a:srgbClr val="DDDDDD"/>
                </a:solidFill>
                <a:latin typeface="Calibri" pitchFamily="34" charset="0"/>
                <a:ea typeface="Calibri" pitchFamily="34" charset="-122"/>
                <a:cs typeface="Calibri" pitchFamily="34" charset="-120"/>
              </a:rPr>
              <a:t>[ Image ]</a:t>
            </a:r>
            <a:endParaRPr lang="en-US" sz="1400" dirty="0"/>
          </a:p>
        </p:txBody>
      </p:sp>
      <p:pic>
        <p:nvPicPr>
          <p:cNvPr id="13" name="Picture 12">
            <a:extLst>
              <a:ext uri="{FF2B5EF4-FFF2-40B4-BE49-F238E27FC236}">
                <a16:creationId xmlns:a16="http://schemas.microsoft.com/office/drawing/2014/main" id="{47EFBF15-4974-EEF7-053F-2ECDAD9D7232}"/>
              </a:ext>
            </a:extLst>
          </p:cNvPr>
          <p:cNvPicPr>
            <a:picLocks noChangeAspect="1"/>
          </p:cNvPicPr>
          <p:nvPr/>
        </p:nvPicPr>
        <p:blipFill>
          <a:blip r:embed="rId3"/>
          <a:stretch>
            <a:fillRect/>
          </a:stretch>
        </p:blipFill>
        <p:spPr>
          <a:xfrm>
            <a:off x="1067524" y="785474"/>
            <a:ext cx="7008951" cy="3784464"/>
          </a:xfrm>
          <a:prstGeom prst="rect">
            <a:avLst/>
          </a:prstGeom>
        </p:spPr>
      </p:pic>
      <p:sp>
        <p:nvSpPr>
          <p:cNvPr id="8" name="Text 6"/>
          <p:cNvSpPr/>
          <p:nvPr/>
        </p:nvSpPr>
        <p:spPr>
          <a:xfrm>
            <a:off x="54864" y="1037044"/>
            <a:ext cx="4114800" cy="411480"/>
          </a:xfrm>
          <a:prstGeom prst="rect">
            <a:avLst/>
          </a:prstGeom>
          <a:noFill/>
          <a:ln/>
        </p:spPr>
        <p:txBody>
          <a:bodyPr wrap="square" lIns="0" tIns="0" rIns="0" bIns="0" rtlCol="0" anchor="ctr"/>
          <a:lstStyle/>
          <a:p>
            <a:pPr marL="0" indent="0">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cs typeface="Calibri" pitchFamily="34" charset="-120"/>
              </a:rPr>
              <a:t>Boxplots</a:t>
            </a:r>
            <a:endParaRPr lang="en-US" sz="1800" dirty="0"/>
          </a:p>
        </p:txBody>
      </p:sp>
      <p:sp>
        <p:nvSpPr>
          <p:cNvPr id="8" name="Shape 6"/>
          <p:cNvSpPr/>
          <p:nvPr/>
        </p:nvSpPr>
        <p:spPr>
          <a:xfrm>
            <a:off x="674555" y="655048"/>
            <a:ext cx="7737924" cy="4095260"/>
          </a:xfrm>
          <a:prstGeom prst="rect">
            <a:avLst/>
          </a:prstGeom>
          <a:solidFill>
            <a:srgbClr val="F5F5F5"/>
          </a:solidFill>
          <a:ln w="12700">
            <a:solidFill>
              <a:srgbClr val="DDDDDD"/>
            </a:solidFill>
            <a:prstDash val="solid"/>
          </a:ln>
        </p:spPr>
        <p:txBody>
          <a:bodyPr/>
          <a:lstStyle/>
          <a:p>
            <a:endParaRPr lang="en-US"/>
          </a:p>
        </p:txBody>
      </p:sp>
      <p:sp>
        <p:nvSpPr>
          <p:cNvPr id="9" name="Text 7"/>
          <p:cNvSpPr/>
          <p:nvPr/>
        </p:nvSpPr>
        <p:spPr>
          <a:xfrm>
            <a:off x="320040" y="777240"/>
            <a:ext cx="4114800" cy="4229100"/>
          </a:xfrm>
          <a:prstGeom prst="rect">
            <a:avLst/>
          </a:prstGeom>
          <a:noFill/>
          <a:ln/>
        </p:spPr>
        <p:txBody>
          <a:bodyPr wrap="square" lIns="0" tIns="0" rIns="0" bIns="0" rtlCol="0" anchor="ctr"/>
          <a:lstStyle/>
          <a:p>
            <a:pPr marL="0" indent="0" algn="ctr">
              <a:buNone/>
            </a:pPr>
            <a:r>
              <a:rPr lang="en-US" sz="1400" dirty="0">
                <a:solidFill>
                  <a:srgbClr val="DDDDDD"/>
                </a:solidFill>
                <a:latin typeface="Calibri" pitchFamily="34" charset="0"/>
                <a:ea typeface="Calibri" pitchFamily="34" charset="-122"/>
                <a:cs typeface="Calibri" pitchFamily="34" charset="-120"/>
              </a:rPr>
              <a:t>[ Image ]</a:t>
            </a:r>
            <a:endParaRPr lang="en-US" sz="1400" dirty="0"/>
          </a:p>
        </p:txBody>
      </p:sp>
      <p:pic>
        <p:nvPicPr>
          <p:cNvPr id="13" name="Picture 12">
            <a:extLst>
              <a:ext uri="{FF2B5EF4-FFF2-40B4-BE49-F238E27FC236}">
                <a16:creationId xmlns:a16="http://schemas.microsoft.com/office/drawing/2014/main" id="{3608AA1B-93A6-9036-51C8-766538325346}"/>
              </a:ext>
            </a:extLst>
          </p:cNvPr>
          <p:cNvPicPr>
            <a:picLocks noChangeAspect="1"/>
          </p:cNvPicPr>
          <p:nvPr/>
        </p:nvPicPr>
        <p:blipFill>
          <a:blip r:embed="rId3"/>
          <a:stretch>
            <a:fillRect/>
          </a:stretch>
        </p:blipFill>
        <p:spPr>
          <a:xfrm>
            <a:off x="986351" y="716552"/>
            <a:ext cx="7151807" cy="392970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Shape 5"/>
          <p:cNvSpPr/>
          <p:nvPr/>
        </p:nvSpPr>
        <p:spPr>
          <a:xfrm>
            <a:off x="0" y="594360"/>
            <a:ext cx="9144000" cy="4293108"/>
          </a:xfrm>
          <a:prstGeom prst="rect">
            <a:avLst/>
          </a:prstGeom>
          <a:solidFill>
            <a:srgbClr val="F5F5F5"/>
          </a:solidFill>
          <a:ln w="12700">
            <a:solidFill>
              <a:srgbClr val="DDDDDD"/>
            </a:solidFill>
            <a:prstDash val="solid"/>
          </a:ln>
        </p:spPr>
        <p:txBody>
          <a:bodyPr/>
          <a:lstStyle/>
          <a:p>
            <a:endParaRPr lang="en-US" dirty="0"/>
          </a:p>
        </p:txBody>
      </p:sp>
      <p:sp>
        <p:nvSpPr>
          <p:cNvPr id="8" name="Text 6"/>
          <p:cNvSpPr/>
          <p:nvPr/>
        </p:nvSpPr>
        <p:spPr>
          <a:xfrm>
            <a:off x="0" y="594360"/>
            <a:ext cx="9144000" cy="4293108"/>
          </a:xfrm>
          <a:prstGeom prst="rect">
            <a:avLst/>
          </a:prstGeom>
          <a:noFill/>
          <a:ln/>
        </p:spPr>
        <p:txBody>
          <a:bodyPr wrap="square" lIns="0" tIns="0" rIns="0" bIns="0" rtlCol="0" anchor="ctr"/>
          <a:lstStyle/>
          <a:p>
            <a:pPr marL="0" indent="0" algn="ctr">
              <a:buNone/>
            </a:pPr>
            <a:r>
              <a:rPr lang="en-US" sz="1600" dirty="0">
                <a:solidFill>
                  <a:srgbClr val="DDDDDD"/>
                </a:solidFill>
                <a:latin typeface="Calibri" pitchFamily="34" charset="0"/>
                <a:ea typeface="Calibri" pitchFamily="34" charset="-122"/>
                <a:cs typeface="Calibri" pitchFamily="34" charset="-120"/>
              </a:rPr>
              <a:t>[ Full-width Image ]</a:t>
            </a:r>
            <a:endParaRPr lang="en-US" sz="1600" dirty="0"/>
          </a:p>
        </p:txBody>
      </p:sp>
      <p:sp>
        <p:nvSpPr>
          <p:cNvPr id="10" name="Text 8"/>
          <p:cNvSpPr/>
          <p:nvPr/>
        </p:nvSpPr>
        <p:spPr>
          <a:xfrm>
            <a:off x="274320" y="0"/>
            <a:ext cx="8229600" cy="5943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cs typeface="Calibri" pitchFamily="34" charset="-120"/>
              </a:rPr>
              <a:t>Correlations</a:t>
            </a:r>
          </a:p>
        </p:txBody>
      </p:sp>
      <p:pic>
        <p:nvPicPr>
          <p:cNvPr id="13" name="Picture 12">
            <a:extLst>
              <a:ext uri="{FF2B5EF4-FFF2-40B4-BE49-F238E27FC236}">
                <a16:creationId xmlns:a16="http://schemas.microsoft.com/office/drawing/2014/main" id="{3303437C-EB32-B1CB-70B0-A05516D1817F}"/>
              </a:ext>
            </a:extLst>
          </p:cNvPr>
          <p:cNvPicPr>
            <a:picLocks noChangeAspect="1"/>
          </p:cNvPicPr>
          <p:nvPr/>
        </p:nvPicPr>
        <p:blipFill>
          <a:blip r:embed="rId3"/>
          <a:stretch>
            <a:fillRect/>
          </a:stretch>
        </p:blipFill>
        <p:spPr>
          <a:xfrm>
            <a:off x="274319" y="682225"/>
            <a:ext cx="5371961" cy="4039677"/>
          </a:xfrm>
          <a:prstGeom prst="rect">
            <a:avLst/>
          </a:prstGeom>
        </p:spPr>
      </p:pic>
      <p:pic>
        <p:nvPicPr>
          <p:cNvPr id="15" name="Picture 14">
            <a:extLst>
              <a:ext uri="{FF2B5EF4-FFF2-40B4-BE49-F238E27FC236}">
                <a16:creationId xmlns:a16="http://schemas.microsoft.com/office/drawing/2014/main" id="{80D8F584-AE19-E34E-BC33-4CF490435D81}"/>
              </a:ext>
            </a:extLst>
          </p:cNvPr>
          <p:cNvPicPr>
            <a:picLocks noChangeAspect="1"/>
          </p:cNvPicPr>
          <p:nvPr/>
        </p:nvPicPr>
        <p:blipFill>
          <a:blip r:embed="rId4"/>
          <a:stretch>
            <a:fillRect/>
          </a:stretch>
        </p:blipFill>
        <p:spPr>
          <a:xfrm>
            <a:off x="5741855" y="824460"/>
            <a:ext cx="3306570" cy="2072494"/>
          </a:xfrm>
          <a:prstGeom prst="rect">
            <a:avLst/>
          </a:prstGeom>
        </p:spPr>
      </p:pic>
      <p:sp>
        <p:nvSpPr>
          <p:cNvPr id="16" name="Text 9">
            <a:extLst>
              <a:ext uri="{FF2B5EF4-FFF2-40B4-BE49-F238E27FC236}">
                <a16:creationId xmlns:a16="http://schemas.microsoft.com/office/drawing/2014/main" id="{C299A404-805D-64DB-93F1-3847F4C89AC6}"/>
              </a:ext>
            </a:extLst>
          </p:cNvPr>
          <p:cNvSpPr/>
          <p:nvPr/>
        </p:nvSpPr>
        <p:spPr>
          <a:xfrm>
            <a:off x="5741854" y="2990538"/>
            <a:ext cx="3252243" cy="1731364"/>
          </a:xfrm>
          <a:prstGeom prst="rect">
            <a:avLst/>
          </a:prstGeom>
          <a:noFill/>
          <a:ln/>
        </p:spPr>
        <p:txBody>
          <a:bodyPr wrap="square" lIns="0" tIns="0" rIns="0" bIns="0" rtlCol="0" anchor="ctr"/>
          <a:lstStyle/>
          <a:p>
            <a:pPr marL="0" indent="0">
              <a:buNone/>
            </a:pPr>
            <a:r>
              <a:rPr lang="en-US" sz="1250" dirty="0">
                <a:solidFill>
                  <a:srgbClr val="444444"/>
                </a:solidFill>
                <a:latin typeface="Calibri" pitchFamily="34" charset="0"/>
                <a:ea typeface="Calibri" pitchFamily="34" charset="-122"/>
                <a:cs typeface="Calibri" pitchFamily="34" charset="-120"/>
              </a:rPr>
              <a:t>Red Boxes = Positive Correlation</a:t>
            </a:r>
          </a:p>
          <a:p>
            <a:pPr marL="0" indent="0">
              <a:buNone/>
            </a:pPr>
            <a:r>
              <a:rPr lang="en-US" sz="1250" dirty="0">
                <a:solidFill>
                  <a:srgbClr val="444444"/>
                </a:solidFill>
                <a:latin typeface="Calibri" pitchFamily="34" charset="0"/>
                <a:ea typeface="Calibri" pitchFamily="34" charset="-122"/>
                <a:cs typeface="Calibri" pitchFamily="34" charset="-120"/>
              </a:rPr>
              <a:t>Ex. High stress levels correlate with injury</a:t>
            </a:r>
          </a:p>
          <a:p>
            <a:pPr marL="0" indent="0">
              <a:buNone/>
            </a:pPr>
            <a:endParaRPr lang="en-US" sz="1250" dirty="0">
              <a:solidFill>
                <a:srgbClr val="444444"/>
              </a:solidFill>
              <a:latin typeface="Calibri" pitchFamily="34" charset="0"/>
              <a:ea typeface="Calibri" pitchFamily="34" charset="-122"/>
              <a:cs typeface="Calibri" pitchFamily="34" charset="-120"/>
            </a:endParaRPr>
          </a:p>
          <a:p>
            <a:pPr marL="0" indent="0">
              <a:buNone/>
            </a:pPr>
            <a:r>
              <a:rPr lang="en-US" sz="1250" dirty="0">
                <a:solidFill>
                  <a:srgbClr val="444444"/>
                </a:solidFill>
                <a:latin typeface="Calibri" pitchFamily="34" charset="0"/>
                <a:cs typeface="Calibri" pitchFamily="34" charset="-120"/>
              </a:rPr>
              <a:t>Blue Boxes = Negative Correlation</a:t>
            </a:r>
          </a:p>
          <a:p>
            <a:pPr marL="0" indent="0">
              <a:buNone/>
            </a:pPr>
            <a:r>
              <a:rPr lang="en-US" sz="1250" dirty="0">
                <a:solidFill>
                  <a:srgbClr val="444444"/>
                </a:solidFill>
                <a:latin typeface="Calibri" pitchFamily="34" charset="0"/>
                <a:cs typeface="Calibri" pitchFamily="34" charset="-120"/>
              </a:rPr>
              <a:t>Ex. Poor nutrition leads to injury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Scatterplots</a:t>
            </a:r>
            <a:endParaRPr lang="en-US" sz="1800" dirty="0"/>
          </a:p>
        </p:txBody>
      </p:sp>
      <p:sp>
        <p:nvSpPr>
          <p:cNvPr id="8" name="Text 6"/>
          <p:cNvSpPr/>
          <p:nvPr/>
        </p:nvSpPr>
        <p:spPr>
          <a:xfrm>
            <a:off x="411480" y="960120"/>
            <a:ext cx="4114800" cy="411480"/>
          </a:xfrm>
          <a:prstGeom prst="rect">
            <a:avLst/>
          </a:prstGeom>
          <a:noFill/>
          <a:ln/>
        </p:spPr>
        <p:txBody>
          <a:bodyPr wrap="square" lIns="0" tIns="0" rIns="0" bIns="0" rtlCol="0" anchor="ctr"/>
          <a:lstStyle/>
          <a:p>
            <a:pPr marL="0" indent="0">
              <a:buNone/>
            </a:pPr>
            <a:endParaRPr lang="en-US" sz="1600" dirty="0"/>
          </a:p>
        </p:txBody>
      </p:sp>
      <p:sp>
        <p:nvSpPr>
          <p:cNvPr id="10" name="Shape 8"/>
          <p:cNvSpPr/>
          <p:nvPr/>
        </p:nvSpPr>
        <p:spPr>
          <a:xfrm>
            <a:off x="487180" y="1101777"/>
            <a:ext cx="8108180" cy="3264484"/>
          </a:xfrm>
          <a:prstGeom prst="rect">
            <a:avLst/>
          </a:prstGeom>
          <a:solidFill>
            <a:srgbClr val="F5F5F5"/>
          </a:solidFill>
          <a:ln w="12700">
            <a:solidFill>
              <a:srgbClr val="DDDDDD"/>
            </a:solidFill>
            <a:prstDash val="solid"/>
          </a:ln>
        </p:spPr>
        <p:txBody>
          <a:bodyPr/>
          <a:lstStyle/>
          <a:p>
            <a:endParaRPr lang="en-US"/>
          </a:p>
        </p:txBody>
      </p:sp>
      <p:sp>
        <p:nvSpPr>
          <p:cNvPr id="11" name="Text 9"/>
          <p:cNvSpPr/>
          <p:nvPr/>
        </p:nvSpPr>
        <p:spPr>
          <a:xfrm>
            <a:off x="4709160" y="777240"/>
            <a:ext cx="4114800" cy="4229100"/>
          </a:xfrm>
          <a:prstGeom prst="rect">
            <a:avLst/>
          </a:prstGeom>
          <a:noFill/>
          <a:ln/>
        </p:spPr>
        <p:txBody>
          <a:bodyPr wrap="square" lIns="0" tIns="0" rIns="0" bIns="0" rtlCol="0" anchor="ctr"/>
          <a:lstStyle/>
          <a:p>
            <a:pPr marL="0" indent="0" algn="ctr">
              <a:buNone/>
            </a:pPr>
            <a:r>
              <a:rPr lang="en-US" sz="1400" dirty="0">
                <a:solidFill>
                  <a:srgbClr val="DDDDDD"/>
                </a:solidFill>
                <a:latin typeface="Calibri" pitchFamily="34" charset="0"/>
                <a:ea typeface="Calibri" pitchFamily="34" charset="-122"/>
                <a:cs typeface="Calibri" pitchFamily="34" charset="-120"/>
              </a:rPr>
              <a:t>[ Image ]</a:t>
            </a:r>
            <a:endParaRPr lang="en-US" sz="1400" dirty="0"/>
          </a:p>
        </p:txBody>
      </p:sp>
      <p:pic>
        <p:nvPicPr>
          <p:cNvPr id="13" name="Picture 12">
            <a:extLst>
              <a:ext uri="{FF2B5EF4-FFF2-40B4-BE49-F238E27FC236}">
                <a16:creationId xmlns:a16="http://schemas.microsoft.com/office/drawing/2014/main" id="{ACD3B1FB-C8DB-D2AD-7002-80DBDCA6A189}"/>
              </a:ext>
            </a:extLst>
          </p:cNvPr>
          <p:cNvPicPr>
            <a:picLocks noChangeAspect="1"/>
          </p:cNvPicPr>
          <p:nvPr/>
        </p:nvPicPr>
        <p:blipFill>
          <a:blip r:embed="rId3"/>
          <a:stretch>
            <a:fillRect/>
          </a:stretch>
        </p:blipFill>
        <p:spPr>
          <a:xfrm>
            <a:off x="640080" y="1251685"/>
            <a:ext cx="7772400" cy="29316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BBA3B39-8DDD-51C0-6F13-7B6CAE7FFE7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2F69680-F5BA-0532-F97B-CEC326A8B451}"/>
              </a:ext>
            </a:extLst>
          </p:cNvPr>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dirty="0"/>
          </a:p>
        </p:txBody>
      </p:sp>
      <p:sp>
        <p:nvSpPr>
          <p:cNvPr id="3" name="Shape 1">
            <a:extLst>
              <a:ext uri="{FF2B5EF4-FFF2-40B4-BE49-F238E27FC236}">
                <a16:creationId xmlns:a16="http://schemas.microsoft.com/office/drawing/2014/main" id="{64DE1F72-938D-DC13-2CCB-B6EFB55D015C}"/>
              </a:ext>
            </a:extLst>
          </p:cNvPr>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a:extLst>
              <a:ext uri="{FF2B5EF4-FFF2-40B4-BE49-F238E27FC236}">
                <a16:creationId xmlns:a16="http://schemas.microsoft.com/office/drawing/2014/main" id="{3B93B3C6-D6EC-1953-F8FD-6877ADE2A9DA}"/>
              </a:ext>
            </a:extLst>
          </p:cNvPr>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a:extLst>
              <a:ext uri="{FF2B5EF4-FFF2-40B4-BE49-F238E27FC236}">
                <a16:creationId xmlns:a16="http://schemas.microsoft.com/office/drawing/2014/main" id="{023BD966-1107-9858-C23C-F4D85AD90663}"/>
              </a:ext>
            </a:extLst>
          </p:cNvPr>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a:extLst>
              <a:ext uri="{FF2B5EF4-FFF2-40B4-BE49-F238E27FC236}">
                <a16:creationId xmlns:a16="http://schemas.microsoft.com/office/drawing/2014/main" id="{A7D8655A-36AB-8627-8403-05896C9B0341}"/>
              </a:ext>
            </a:extLst>
          </p:cNvPr>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a:extLst>
              <a:ext uri="{FF2B5EF4-FFF2-40B4-BE49-F238E27FC236}">
                <a16:creationId xmlns:a16="http://schemas.microsoft.com/office/drawing/2014/main" id="{AF2A12CB-8FD9-38F2-87A7-A272C8BA3F28}"/>
              </a:ext>
            </a:extLst>
          </p:cNvPr>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Positional Risk</a:t>
            </a:r>
            <a:endParaRPr lang="en-US" sz="1800" dirty="0"/>
          </a:p>
        </p:txBody>
      </p:sp>
      <p:sp>
        <p:nvSpPr>
          <p:cNvPr id="8" name="Text 6">
            <a:extLst>
              <a:ext uri="{FF2B5EF4-FFF2-40B4-BE49-F238E27FC236}">
                <a16:creationId xmlns:a16="http://schemas.microsoft.com/office/drawing/2014/main" id="{8B1AD442-80A5-78E7-1F2E-7FB61A860A0A}"/>
              </a:ext>
            </a:extLst>
          </p:cNvPr>
          <p:cNvSpPr/>
          <p:nvPr/>
        </p:nvSpPr>
        <p:spPr>
          <a:xfrm>
            <a:off x="411480" y="960120"/>
            <a:ext cx="4114800" cy="411480"/>
          </a:xfrm>
          <a:prstGeom prst="rect">
            <a:avLst/>
          </a:prstGeom>
          <a:noFill/>
          <a:ln/>
        </p:spPr>
        <p:txBody>
          <a:bodyPr wrap="square" lIns="0" tIns="0" rIns="0" bIns="0" rtlCol="0" anchor="ctr"/>
          <a:lstStyle/>
          <a:p>
            <a:pPr marL="0" indent="0">
              <a:buNone/>
            </a:pPr>
            <a:endParaRPr lang="en-US" sz="1600" dirty="0"/>
          </a:p>
        </p:txBody>
      </p:sp>
      <p:sp>
        <p:nvSpPr>
          <p:cNvPr id="10" name="Shape 8">
            <a:extLst>
              <a:ext uri="{FF2B5EF4-FFF2-40B4-BE49-F238E27FC236}">
                <a16:creationId xmlns:a16="http://schemas.microsoft.com/office/drawing/2014/main" id="{ACFCBB77-C6A5-B435-6854-214967955EC0}"/>
              </a:ext>
            </a:extLst>
          </p:cNvPr>
          <p:cNvSpPr/>
          <p:nvPr/>
        </p:nvSpPr>
        <p:spPr>
          <a:xfrm>
            <a:off x="1792224" y="907086"/>
            <a:ext cx="4967021" cy="3613708"/>
          </a:xfrm>
          <a:prstGeom prst="rect">
            <a:avLst/>
          </a:prstGeom>
          <a:solidFill>
            <a:srgbClr val="F5F5F5"/>
          </a:solidFill>
          <a:ln w="12700">
            <a:solidFill>
              <a:srgbClr val="DDDDDD"/>
            </a:solidFill>
            <a:prstDash val="solid"/>
          </a:ln>
        </p:spPr>
        <p:txBody>
          <a:bodyPr/>
          <a:lstStyle/>
          <a:p>
            <a:endParaRPr lang="en-US"/>
          </a:p>
        </p:txBody>
      </p:sp>
      <p:pic>
        <p:nvPicPr>
          <p:cNvPr id="12" name="Picture 11">
            <a:extLst>
              <a:ext uri="{FF2B5EF4-FFF2-40B4-BE49-F238E27FC236}">
                <a16:creationId xmlns:a16="http://schemas.microsoft.com/office/drawing/2014/main" id="{574B9DA5-3A8A-18B1-31E7-71AD251C523A}"/>
              </a:ext>
            </a:extLst>
          </p:cNvPr>
          <p:cNvPicPr>
            <a:picLocks noChangeAspect="1"/>
          </p:cNvPicPr>
          <p:nvPr/>
        </p:nvPicPr>
        <p:blipFill>
          <a:blip r:embed="rId3"/>
          <a:stretch>
            <a:fillRect/>
          </a:stretch>
        </p:blipFill>
        <p:spPr>
          <a:xfrm>
            <a:off x="1931213" y="1026872"/>
            <a:ext cx="4647179" cy="3339389"/>
          </a:xfrm>
          <a:prstGeom prst="rect">
            <a:avLst/>
          </a:prstGeom>
        </p:spPr>
      </p:pic>
    </p:spTree>
    <p:extLst>
      <p:ext uri="{BB962C8B-B14F-4D97-AF65-F5344CB8AC3E}">
        <p14:creationId xmlns:p14="http://schemas.microsoft.com/office/powerpoint/2010/main" val="1370490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B5E3DBA-BE21-AD95-C026-D4FEC705BD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8A9593-08F7-6DF3-8106-B53242DC7702}"/>
              </a:ext>
            </a:extLst>
          </p:cNvPr>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a:extLst>
              <a:ext uri="{FF2B5EF4-FFF2-40B4-BE49-F238E27FC236}">
                <a16:creationId xmlns:a16="http://schemas.microsoft.com/office/drawing/2014/main" id="{41261E69-DBF8-80A5-C369-CBC8C02D2F9A}"/>
              </a:ext>
            </a:extLst>
          </p:cNvPr>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a:extLst>
              <a:ext uri="{FF2B5EF4-FFF2-40B4-BE49-F238E27FC236}">
                <a16:creationId xmlns:a16="http://schemas.microsoft.com/office/drawing/2014/main" id="{867E4569-9F1B-4C6A-0C50-B3D88C8FCB90}"/>
              </a:ext>
            </a:extLst>
          </p:cNvPr>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a:extLst>
              <a:ext uri="{FF2B5EF4-FFF2-40B4-BE49-F238E27FC236}">
                <a16:creationId xmlns:a16="http://schemas.microsoft.com/office/drawing/2014/main" id="{79F91293-BB3F-5121-63BC-3AFBB041AE52}"/>
              </a:ext>
            </a:extLst>
          </p:cNvPr>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a:extLst>
              <a:ext uri="{FF2B5EF4-FFF2-40B4-BE49-F238E27FC236}">
                <a16:creationId xmlns:a16="http://schemas.microsoft.com/office/drawing/2014/main" id="{6A470187-1AF9-086C-F758-88CA44E04F17}"/>
              </a:ext>
            </a:extLst>
          </p:cNvPr>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a:extLst>
              <a:ext uri="{FF2B5EF4-FFF2-40B4-BE49-F238E27FC236}">
                <a16:creationId xmlns:a16="http://schemas.microsoft.com/office/drawing/2014/main" id="{B1A029E3-F6F1-7414-C9EF-E2299EA097B7}"/>
              </a:ext>
            </a:extLst>
          </p:cNvPr>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Findings</a:t>
            </a:r>
          </a:p>
        </p:txBody>
      </p:sp>
      <p:sp>
        <p:nvSpPr>
          <p:cNvPr id="8" name="Text 6">
            <a:extLst>
              <a:ext uri="{FF2B5EF4-FFF2-40B4-BE49-F238E27FC236}">
                <a16:creationId xmlns:a16="http://schemas.microsoft.com/office/drawing/2014/main" id="{72060E33-39F3-C51A-13FE-F6954ACA222A}"/>
              </a:ext>
            </a:extLst>
          </p:cNvPr>
          <p:cNvSpPr/>
          <p:nvPr/>
        </p:nvSpPr>
        <p:spPr>
          <a:xfrm>
            <a:off x="380391" y="819758"/>
            <a:ext cx="8229600" cy="3621025"/>
          </a:xfrm>
          <a:prstGeom prst="rect">
            <a:avLst/>
          </a:prstGeom>
          <a:noFill/>
          <a:ln/>
        </p:spPr>
        <p:txBody>
          <a:bodyPr wrap="square" lIns="0" tIns="0" rIns="0" bIns="0" rtlCol="0" anchor="ctr"/>
          <a:lstStyle/>
          <a:p>
            <a:r>
              <a:rPr lang="en-US" sz="2800" b="1" dirty="0">
                <a:solidFill>
                  <a:srgbClr val="1B2A4A"/>
                </a:solidFill>
                <a:latin typeface="Calibri" pitchFamily="34" charset="0"/>
                <a:ea typeface="Calibri" pitchFamily="34" charset="-122"/>
                <a:cs typeface="Calibri" pitchFamily="34" charset="-120"/>
              </a:rPr>
              <a:t>Factors that lead to injury…</a:t>
            </a:r>
          </a:p>
          <a:p>
            <a:endParaRPr lang="en-US" sz="2800" b="1" dirty="0">
              <a:solidFill>
                <a:srgbClr val="1B2A4A"/>
              </a:solidFill>
              <a:latin typeface="Calibri" pitchFamily="34" charset="0"/>
              <a:ea typeface="Calibri" pitchFamily="34" charset="-122"/>
              <a:cs typeface="Calibri" pitchFamily="34" charset="-120"/>
            </a:endParaRPr>
          </a:p>
          <a:p>
            <a:r>
              <a:rPr lang="en-US" sz="1600" dirty="0">
                <a:solidFill>
                  <a:srgbClr val="1B2A4A"/>
                </a:solidFill>
                <a:latin typeface="Calibri" pitchFamily="34" charset="0"/>
                <a:ea typeface="Calibri" pitchFamily="34" charset="-122"/>
                <a:cs typeface="Calibri" pitchFamily="34" charset="-120"/>
              </a:rPr>
              <a:t>Lifestyle: High stress levels, inadequate sleep, and poor nutrition </a:t>
            </a:r>
          </a:p>
          <a:p>
            <a:endParaRPr lang="en-US" sz="1600" dirty="0">
              <a:solidFill>
                <a:srgbClr val="1B2A4A"/>
              </a:solidFill>
              <a:latin typeface="Calibri" pitchFamily="34" charset="0"/>
              <a:ea typeface="Calibri" pitchFamily="34" charset="-122"/>
              <a:cs typeface="Calibri" pitchFamily="34" charset="-120"/>
            </a:endParaRPr>
          </a:p>
          <a:p>
            <a:r>
              <a:rPr lang="en-US" sz="1600" dirty="0">
                <a:solidFill>
                  <a:srgbClr val="1B2A4A"/>
                </a:solidFill>
                <a:latin typeface="Calibri" pitchFamily="34" charset="0"/>
                <a:ea typeface="Calibri" pitchFamily="34" charset="-122"/>
                <a:cs typeface="Calibri" pitchFamily="34" charset="-120"/>
              </a:rPr>
              <a:t>History: Previous injury count strongly predictive</a:t>
            </a:r>
          </a:p>
          <a:p>
            <a:endParaRPr lang="en-US" sz="1600" dirty="0">
              <a:solidFill>
                <a:srgbClr val="1B2A4A"/>
              </a:solidFill>
              <a:latin typeface="Calibri" pitchFamily="34" charset="0"/>
              <a:ea typeface="Calibri" pitchFamily="34" charset="-122"/>
              <a:cs typeface="Calibri" pitchFamily="34" charset="-120"/>
            </a:endParaRPr>
          </a:p>
          <a:p>
            <a:r>
              <a:rPr lang="en-US" sz="1600" dirty="0">
                <a:solidFill>
                  <a:srgbClr val="1B2A4A"/>
                </a:solidFill>
                <a:latin typeface="Calibri" pitchFamily="34" charset="0"/>
                <a:ea typeface="Calibri" pitchFamily="34" charset="-122"/>
                <a:cs typeface="Calibri" pitchFamily="34" charset="-120"/>
              </a:rPr>
              <a:t>Physical: Low lower body balance, flexibility, and strength</a:t>
            </a:r>
          </a:p>
          <a:p>
            <a:endParaRPr lang="en-US" sz="1600" dirty="0">
              <a:solidFill>
                <a:srgbClr val="1B2A4A"/>
              </a:solidFill>
              <a:latin typeface="Calibri" pitchFamily="34" charset="0"/>
              <a:ea typeface="Calibri" pitchFamily="34" charset="-122"/>
              <a:cs typeface="Calibri" pitchFamily="34" charset="-120"/>
            </a:endParaRPr>
          </a:p>
          <a:p>
            <a:r>
              <a:rPr lang="en-US" sz="1600" dirty="0">
                <a:solidFill>
                  <a:srgbClr val="1B2A4A"/>
                </a:solidFill>
                <a:latin typeface="Calibri" pitchFamily="34" charset="0"/>
                <a:ea typeface="Calibri" pitchFamily="34" charset="-122"/>
                <a:cs typeface="Calibri" pitchFamily="34" charset="-120"/>
              </a:rPr>
              <a:t>Behavioral: Inconsistent training and poor warmup adherence</a:t>
            </a:r>
          </a:p>
          <a:p>
            <a:endParaRPr lang="en-US" sz="1600" dirty="0">
              <a:solidFill>
                <a:srgbClr val="1B2A4A"/>
              </a:solidFill>
              <a:latin typeface="Calibri" pitchFamily="34" charset="0"/>
              <a:ea typeface="Calibri" pitchFamily="34" charset="-122"/>
              <a:cs typeface="Calibri" pitchFamily="34" charset="-120"/>
            </a:endParaRPr>
          </a:p>
          <a:p>
            <a:r>
              <a:rPr lang="en-US" sz="1600" dirty="0">
                <a:solidFill>
                  <a:srgbClr val="1B2A4A"/>
                </a:solidFill>
                <a:latin typeface="Calibri" pitchFamily="34" charset="0"/>
                <a:ea typeface="Calibri" pitchFamily="34" charset="-122"/>
                <a:cs typeface="Calibri" pitchFamily="34" charset="-120"/>
              </a:rPr>
              <a:t>Positional: Forwards and Midfielders at a higher risk of injury than Defenders and Goalkeepers</a:t>
            </a:r>
          </a:p>
          <a:p>
            <a:endParaRPr lang="en-US" sz="2000" dirty="0"/>
          </a:p>
        </p:txBody>
      </p:sp>
    </p:spTree>
    <p:extLst>
      <p:ext uri="{BB962C8B-B14F-4D97-AF65-F5344CB8AC3E}">
        <p14:creationId xmlns:p14="http://schemas.microsoft.com/office/powerpoint/2010/main" val="2118491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Ethical Concerns</a:t>
            </a:r>
          </a:p>
        </p:txBody>
      </p:sp>
      <p:sp>
        <p:nvSpPr>
          <p:cNvPr id="8" name="Text 6"/>
          <p:cNvSpPr/>
          <p:nvPr/>
        </p:nvSpPr>
        <p:spPr>
          <a:xfrm>
            <a:off x="438912" y="373531"/>
            <a:ext cx="8229600" cy="3621025"/>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800" b="1" dirty="0">
                <a:solidFill>
                  <a:srgbClr val="1B2A4A"/>
                </a:solidFill>
                <a:latin typeface="Calibri" pitchFamily="34" charset="0"/>
                <a:ea typeface="Calibri" pitchFamily="34" charset="-122"/>
                <a:cs typeface="Calibri" pitchFamily="34" charset="-120"/>
              </a:rPr>
              <a:t>Privacy and Data Security</a:t>
            </a:r>
          </a:p>
          <a:p>
            <a:pPr marL="800100" lvl="1" indent="-342900">
              <a:buFont typeface="Arial" panose="020B0604020202020204" pitchFamily="34" charset="0"/>
              <a:buChar char="•"/>
            </a:pPr>
            <a:r>
              <a:rPr lang="en-US" sz="1400" dirty="0">
                <a:solidFill>
                  <a:srgbClr val="1B2A4A"/>
                </a:solidFill>
                <a:latin typeface="Calibri" pitchFamily="34" charset="0"/>
                <a:ea typeface="Calibri" pitchFamily="34" charset="-122"/>
                <a:cs typeface="Calibri" pitchFamily="34" charset="-120"/>
              </a:rPr>
              <a:t>Athlete health is highly sensitive</a:t>
            </a:r>
          </a:p>
          <a:p>
            <a:pPr marL="800100" lvl="1" indent="-342900">
              <a:buFont typeface="Arial" panose="020B0604020202020204" pitchFamily="34" charset="0"/>
              <a:buChar char="•"/>
            </a:pPr>
            <a:r>
              <a:rPr lang="en-US" sz="1400" dirty="0">
                <a:solidFill>
                  <a:srgbClr val="1B2A4A"/>
                </a:solidFill>
                <a:latin typeface="Calibri" pitchFamily="34" charset="0"/>
                <a:ea typeface="Calibri" pitchFamily="34" charset="-122"/>
                <a:cs typeface="Calibri" pitchFamily="34" charset="-120"/>
              </a:rPr>
              <a:t>High security measures required</a:t>
            </a:r>
          </a:p>
          <a:p>
            <a:pPr marL="342900" indent="-342900">
              <a:buFont typeface="Arial" panose="020B0604020202020204" pitchFamily="34" charset="0"/>
              <a:buChar char="•"/>
            </a:pPr>
            <a:r>
              <a:rPr lang="en-US" sz="2800" b="1" dirty="0">
                <a:solidFill>
                  <a:srgbClr val="1B2A4A"/>
                </a:solidFill>
                <a:latin typeface="Calibri" pitchFamily="34" charset="0"/>
                <a:ea typeface="Calibri" pitchFamily="34" charset="-122"/>
                <a:cs typeface="Calibri" pitchFamily="34" charset="-120"/>
              </a:rPr>
              <a:t>Fairness and Equity</a:t>
            </a:r>
          </a:p>
          <a:p>
            <a:pPr marL="800100" lvl="1" indent="-342900">
              <a:buFont typeface="Arial" panose="020B0604020202020204" pitchFamily="34" charset="0"/>
              <a:buChar char="•"/>
            </a:pPr>
            <a:r>
              <a:rPr lang="en-US" sz="1400" dirty="0">
                <a:solidFill>
                  <a:srgbClr val="1B2A4A"/>
                </a:solidFill>
                <a:latin typeface="Calibri" pitchFamily="34" charset="0"/>
                <a:ea typeface="Calibri" pitchFamily="34" charset="-122"/>
                <a:cs typeface="Calibri" pitchFamily="34" charset="-120"/>
              </a:rPr>
              <a:t>Avoid stigmatization of “high-risk” players</a:t>
            </a:r>
            <a:endParaRPr lang="en-US" sz="1400" b="1" dirty="0">
              <a:solidFill>
                <a:srgbClr val="1B2A4A"/>
              </a:solidFill>
              <a:latin typeface="Calibri" pitchFamily="34" charset="0"/>
              <a:ea typeface="Calibri" pitchFamily="34" charset="-122"/>
              <a:cs typeface="Calibri" pitchFamily="34" charset="-120"/>
            </a:endParaRPr>
          </a:p>
          <a:p>
            <a:pPr marL="342900" indent="-342900">
              <a:buFont typeface="Arial" panose="020B0604020202020204" pitchFamily="34" charset="0"/>
              <a:buChar char="•"/>
            </a:pPr>
            <a:r>
              <a:rPr lang="en-US" sz="2800" b="1" dirty="0">
                <a:solidFill>
                  <a:srgbClr val="1B2A4A"/>
                </a:solidFill>
                <a:latin typeface="Calibri" pitchFamily="34" charset="0"/>
                <a:ea typeface="Calibri" pitchFamily="34" charset="-122"/>
                <a:cs typeface="Calibri" pitchFamily="34" charset="-120"/>
              </a:rPr>
              <a:t>Responsible Implementation</a:t>
            </a:r>
          </a:p>
          <a:p>
            <a:pPr marL="800100" lvl="1" indent="-342900">
              <a:buFont typeface="Arial" panose="020B0604020202020204" pitchFamily="34" charset="0"/>
              <a:buChar char="•"/>
            </a:pPr>
            <a:r>
              <a:rPr lang="en-US" sz="1400" dirty="0">
                <a:solidFill>
                  <a:srgbClr val="1B2A4A"/>
                </a:solidFill>
                <a:latin typeface="Calibri" pitchFamily="34" charset="0"/>
                <a:ea typeface="Calibri" pitchFamily="34" charset="-122"/>
                <a:cs typeface="Calibri" pitchFamily="34" charset="-120"/>
              </a:rPr>
              <a:t>Avoid overreliance on prediction models</a:t>
            </a:r>
          </a:p>
          <a:p>
            <a:pPr marL="800100" lvl="1" indent="-342900">
              <a:buFont typeface="Arial" panose="020B0604020202020204" pitchFamily="34" charset="0"/>
              <a:buChar char="•"/>
            </a:pPr>
            <a:r>
              <a:rPr lang="en-US" sz="1400" dirty="0">
                <a:solidFill>
                  <a:srgbClr val="1B2A4A"/>
                </a:solidFill>
                <a:latin typeface="Calibri" pitchFamily="34" charset="0"/>
                <a:ea typeface="Calibri" pitchFamily="34" charset="-122"/>
                <a:cs typeface="Calibri" pitchFamily="34" charset="-120"/>
              </a:rPr>
              <a:t>Informed consent for data use</a:t>
            </a:r>
          </a:p>
          <a:p>
            <a:pPr marL="800100" lvl="1" indent="-342900">
              <a:buFont typeface="Arial" panose="020B0604020202020204" pitchFamily="34" charset="0"/>
              <a:buChar char="•"/>
            </a:pPr>
            <a:r>
              <a:rPr lang="en-US" sz="1400" dirty="0">
                <a:solidFill>
                  <a:srgbClr val="1B2A4A"/>
                </a:solidFill>
                <a:latin typeface="Calibri" pitchFamily="34" charset="0"/>
                <a:ea typeface="Calibri" pitchFamily="34" charset="-122"/>
                <a:cs typeface="Calibri" pitchFamily="34" charset="-120"/>
              </a:rPr>
              <a:t>Transparent communication with athletes</a:t>
            </a:r>
          </a:p>
          <a:p>
            <a:pPr marL="342900" indent="-342900">
              <a:buFont typeface="Arial" panose="020B0604020202020204" pitchFamily="34" charset="0"/>
              <a:buChar char="•"/>
            </a:pP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AC0AFB4-C06C-042B-9AE3-3498066513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5CE9C5F-39CA-6B18-9630-70ECCF082952}"/>
              </a:ext>
            </a:extLst>
          </p:cNvPr>
          <p:cNvSpPr/>
          <p:nvPr/>
        </p:nvSpPr>
        <p:spPr>
          <a:xfrm>
            <a:off x="0" y="0"/>
            <a:ext cx="9144000" cy="594360"/>
          </a:xfrm>
          <a:prstGeom prst="rect">
            <a:avLst/>
          </a:prstGeom>
          <a:solidFill>
            <a:srgbClr val="1B2A4A"/>
          </a:solidFill>
          <a:ln w="12700">
            <a:solidFill>
              <a:srgbClr val="1B2A4A"/>
            </a:solidFill>
            <a:prstDash val="solid"/>
          </a:ln>
        </p:spPr>
        <p:txBody>
          <a:bodyPr/>
          <a:lstStyle/>
          <a:p>
            <a:endParaRPr lang="en-US"/>
          </a:p>
        </p:txBody>
      </p:sp>
      <p:sp>
        <p:nvSpPr>
          <p:cNvPr id="3" name="Shape 1">
            <a:extLst>
              <a:ext uri="{FF2B5EF4-FFF2-40B4-BE49-F238E27FC236}">
                <a16:creationId xmlns:a16="http://schemas.microsoft.com/office/drawing/2014/main" id="{D509B567-FCFD-2E2B-AE35-01A938FA14A7}"/>
              </a:ext>
            </a:extLst>
          </p:cNvPr>
          <p:cNvSpPr/>
          <p:nvPr/>
        </p:nvSpPr>
        <p:spPr>
          <a:xfrm>
            <a:off x="0" y="0"/>
            <a:ext cx="109728" cy="594360"/>
          </a:xfrm>
          <a:prstGeom prst="rect">
            <a:avLst/>
          </a:prstGeom>
          <a:solidFill>
            <a:srgbClr val="E8624A"/>
          </a:solidFill>
          <a:ln w="12700">
            <a:solidFill>
              <a:srgbClr val="E8624A"/>
            </a:solidFill>
            <a:prstDash val="solid"/>
          </a:ln>
        </p:spPr>
        <p:txBody>
          <a:bodyPr/>
          <a:lstStyle/>
          <a:p>
            <a:endParaRPr lang="en-US"/>
          </a:p>
        </p:txBody>
      </p:sp>
      <p:sp>
        <p:nvSpPr>
          <p:cNvPr id="4" name="Shape 2">
            <a:extLst>
              <a:ext uri="{FF2B5EF4-FFF2-40B4-BE49-F238E27FC236}">
                <a16:creationId xmlns:a16="http://schemas.microsoft.com/office/drawing/2014/main" id="{7C40E8F2-D2E8-7CF4-B77A-A807A0BF7155}"/>
              </a:ext>
            </a:extLst>
          </p:cNvPr>
          <p:cNvSpPr/>
          <p:nvPr/>
        </p:nvSpPr>
        <p:spPr>
          <a:xfrm>
            <a:off x="0" y="4887468"/>
            <a:ext cx="9144000" cy="256032"/>
          </a:xfrm>
          <a:prstGeom prst="rect">
            <a:avLst/>
          </a:prstGeom>
          <a:solidFill>
            <a:srgbClr val="1B2A4A"/>
          </a:solidFill>
          <a:ln w="12700">
            <a:solidFill>
              <a:srgbClr val="1B2A4A"/>
            </a:solidFill>
            <a:prstDash val="solid"/>
          </a:ln>
        </p:spPr>
        <p:txBody>
          <a:bodyPr/>
          <a:lstStyle/>
          <a:p>
            <a:endParaRPr lang="en-US"/>
          </a:p>
        </p:txBody>
      </p:sp>
      <p:sp>
        <p:nvSpPr>
          <p:cNvPr id="5" name="Shape 3">
            <a:extLst>
              <a:ext uri="{FF2B5EF4-FFF2-40B4-BE49-F238E27FC236}">
                <a16:creationId xmlns:a16="http://schemas.microsoft.com/office/drawing/2014/main" id="{D0020A0C-1965-F8A3-0C85-21BD5AF4C5E4}"/>
              </a:ext>
            </a:extLst>
          </p:cNvPr>
          <p:cNvSpPr/>
          <p:nvPr/>
        </p:nvSpPr>
        <p:spPr>
          <a:xfrm>
            <a:off x="0" y="4887468"/>
            <a:ext cx="109728" cy="256032"/>
          </a:xfrm>
          <a:prstGeom prst="rect">
            <a:avLst/>
          </a:prstGeom>
          <a:solidFill>
            <a:srgbClr val="E8624A"/>
          </a:solidFill>
          <a:ln w="12700">
            <a:solidFill>
              <a:srgbClr val="E8624A"/>
            </a:solidFill>
            <a:prstDash val="solid"/>
          </a:ln>
        </p:spPr>
        <p:txBody>
          <a:bodyPr/>
          <a:lstStyle/>
          <a:p>
            <a:endParaRPr lang="en-US"/>
          </a:p>
        </p:txBody>
      </p:sp>
      <p:sp>
        <p:nvSpPr>
          <p:cNvPr id="6" name="Text 4">
            <a:extLst>
              <a:ext uri="{FF2B5EF4-FFF2-40B4-BE49-F238E27FC236}">
                <a16:creationId xmlns:a16="http://schemas.microsoft.com/office/drawing/2014/main" id="{E12E4E4B-918C-BBE8-2C15-9F54647FC250}"/>
              </a:ext>
            </a:extLst>
          </p:cNvPr>
          <p:cNvSpPr/>
          <p:nvPr/>
        </p:nvSpPr>
        <p:spPr>
          <a:xfrm>
            <a:off x="228600" y="4887468"/>
            <a:ext cx="7315200" cy="256032"/>
          </a:xfrm>
          <a:prstGeom prst="rect">
            <a:avLst/>
          </a:prstGeom>
          <a:noFill/>
          <a:ln/>
        </p:spPr>
        <p:txBody>
          <a:bodyPr wrap="square" lIns="0" tIns="0" rIns="0" bIns="0" rtlCol="0" anchor="ctr"/>
          <a:lstStyle/>
          <a:p>
            <a:pPr marL="0" indent="0">
              <a:buNone/>
            </a:pPr>
            <a:endParaRPr lang="en-US" sz="800" dirty="0"/>
          </a:p>
        </p:txBody>
      </p:sp>
      <p:sp>
        <p:nvSpPr>
          <p:cNvPr id="7" name="Text 5">
            <a:extLst>
              <a:ext uri="{FF2B5EF4-FFF2-40B4-BE49-F238E27FC236}">
                <a16:creationId xmlns:a16="http://schemas.microsoft.com/office/drawing/2014/main" id="{B5FBFFC6-2847-E913-6394-4C6626F7D9E5}"/>
              </a:ext>
            </a:extLst>
          </p:cNvPr>
          <p:cNvSpPr/>
          <p:nvPr/>
        </p:nvSpPr>
        <p:spPr>
          <a:xfrm>
            <a:off x="274320" y="0"/>
            <a:ext cx="8229600" cy="5943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Conclusion</a:t>
            </a:r>
          </a:p>
        </p:txBody>
      </p:sp>
      <p:sp>
        <p:nvSpPr>
          <p:cNvPr id="8" name="Text 6">
            <a:extLst>
              <a:ext uri="{FF2B5EF4-FFF2-40B4-BE49-F238E27FC236}">
                <a16:creationId xmlns:a16="http://schemas.microsoft.com/office/drawing/2014/main" id="{BC43B8CF-64A1-4016-1D47-B39F457A32B0}"/>
              </a:ext>
            </a:extLst>
          </p:cNvPr>
          <p:cNvSpPr/>
          <p:nvPr/>
        </p:nvSpPr>
        <p:spPr>
          <a:xfrm>
            <a:off x="438912" y="373531"/>
            <a:ext cx="8229600" cy="4271621"/>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000" b="1" dirty="0"/>
              <a:t>This research is of high value to athletes and sport clubs to see what they should and shouldn’t do in order to prevent injury</a:t>
            </a:r>
          </a:p>
          <a:p>
            <a:pPr marL="342900" indent="-342900">
              <a:buFont typeface="Arial" panose="020B0604020202020204" pitchFamily="34" charset="0"/>
              <a:buChar char="•"/>
            </a:pPr>
            <a:r>
              <a:rPr lang="en-US" sz="2000" b="1" dirty="0"/>
              <a:t>Business is better for sport clubs when their athletes are healthy and playing the sport for fans to watch. Teams will being more fans in when their favorite athletes are healthy</a:t>
            </a:r>
          </a:p>
          <a:p>
            <a:pPr marL="342900" indent="-342900">
              <a:buFont typeface="Arial" panose="020B0604020202020204" pitchFamily="34" charset="0"/>
              <a:buChar char="•"/>
            </a:pPr>
            <a:r>
              <a:rPr lang="en-US" sz="2000" b="1" dirty="0"/>
              <a:t>In the future…</a:t>
            </a:r>
          </a:p>
          <a:p>
            <a:pPr marL="800100" lvl="1" indent="-342900">
              <a:buFont typeface="Arial" panose="020B0604020202020204" pitchFamily="34" charset="0"/>
              <a:buChar char="•"/>
            </a:pPr>
            <a:r>
              <a:rPr lang="en-US" sz="2000" dirty="0"/>
              <a:t>Potentially stretch research to multiple seasons</a:t>
            </a:r>
          </a:p>
          <a:p>
            <a:pPr marL="800100" lvl="1" indent="-342900">
              <a:buFont typeface="Arial" panose="020B0604020202020204" pitchFamily="34" charset="0"/>
              <a:buChar char="•"/>
            </a:pPr>
            <a:r>
              <a:rPr lang="en-US" sz="2000" dirty="0"/>
              <a:t>Diversify populations</a:t>
            </a:r>
          </a:p>
          <a:p>
            <a:pPr marL="800100" lvl="1" indent="-342900">
              <a:buFont typeface="Arial" panose="020B0604020202020204" pitchFamily="34" charset="0"/>
              <a:buChar char="•"/>
            </a:pPr>
            <a:r>
              <a:rPr lang="en-US" sz="2000" dirty="0"/>
              <a:t>Implementation of research</a:t>
            </a:r>
          </a:p>
        </p:txBody>
      </p:sp>
    </p:spTree>
    <p:extLst>
      <p:ext uri="{BB962C8B-B14F-4D97-AF65-F5344CB8AC3E}">
        <p14:creationId xmlns:p14="http://schemas.microsoft.com/office/powerpoint/2010/main" val="3997173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1985</TotalTime>
  <Words>457</Words>
  <Application>Microsoft Macintosh PowerPoint</Application>
  <PresentationFormat>On-screen Show (16:9)</PresentationFormat>
  <Paragraphs>77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Clean Template</dc:title>
  <dc:subject>PptxGenJS Presentation</dc:subject>
  <dc:creator>PptxGenJS</dc:creator>
  <cp:lastModifiedBy>Joseph R. Altmann</cp:lastModifiedBy>
  <cp:revision>2</cp:revision>
  <dcterms:created xsi:type="dcterms:W3CDTF">2026-04-03T15:59:13Z</dcterms:created>
  <dcterms:modified xsi:type="dcterms:W3CDTF">2026-04-05T18:01:11Z</dcterms:modified>
</cp:coreProperties>
</file>
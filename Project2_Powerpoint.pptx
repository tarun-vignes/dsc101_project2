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9" r:id="rId4"/>
    <p:sldId id="258" r:id="rId5"/>
    <p:sldId id="260" r:id="rId6"/>
    <p:sldId id="262" r:id="rId7"/>
    <p:sldId id="264" r:id="rId8"/>
    <p:sldId id="266" r:id="rId9"/>
    <p:sldId id="273" r:id="rId10"/>
    <p:sldId id="272" r:id="rId11"/>
    <p:sldId id="270" r:id="rId12"/>
    <p:sldId id="271" r:id="rId13"/>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589"/>
  </p:normalViewPr>
  <p:slideViewPr>
    <p:cSldViewPr snapToGrid="0" snapToObjects="1">
      <p:cViewPr varScale="1">
        <p:scale>
          <a:sx n="160" d="100"/>
          <a:sy n="160" d="100"/>
        </p:scale>
        <p:origin x="78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0407456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u="none" strike="noStrike" kern="1200" dirty="0">
                <a:solidFill>
                  <a:schemeClr val="tx1"/>
                </a:solidFill>
                <a:effectLst/>
                <a:latin typeface="+mn-lt"/>
                <a:ea typeface="+mn-ea"/>
                <a:cs typeface="+mn-cs"/>
              </a:rPr>
              <a:t>Today, I will be discussing our project on the injury risk in soccer players from universities. Our objective in undertaking this project is to gain insights into the causes of injury using data. This will enable us to find ways through which we can prevent injuries.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u="none" strike="noStrike" kern="1200" dirty="0">
                <a:solidFill>
                  <a:schemeClr val="tx1"/>
                </a:solidFill>
                <a:effectLst/>
                <a:latin typeface="+mn-lt"/>
                <a:ea typeface="+mn-ea"/>
                <a:cs typeface="+mn-cs"/>
              </a:rPr>
              <a:t>The database consists of details about 800 university football players in China. The dataset is composed of 18 attributes that include basic physical characteristics of the participants such as age, height, and weight; fitness indicators such as agility and balance; factors related to training and lifestyle, such as sleeping patterns, stress level, and nutrition; and finally the presence of an injury among the players.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u="none" strike="noStrike" kern="1200" dirty="0">
                <a:solidFill>
                  <a:schemeClr val="tx1"/>
                </a:solidFill>
                <a:effectLst/>
                <a:latin typeface="+mn-lt"/>
                <a:ea typeface="+mn-ea"/>
                <a:cs typeface="+mn-cs"/>
              </a:rPr>
              <a:t>The primary objective of this study will be to investigate various determinants and the relationship of these with the likelihood of sustaining an injury, including training volume, past history of injuries, physical conditioning, and lifestyle practices. The purpose will be to determine those factors that have the greatest impact on injury incidence.</a:t>
            </a:r>
            <a:r>
              <a:rPr lang="en-US" sz="1200" b="0" i="0" kern="1200" dirty="0">
                <a:solidFill>
                  <a:schemeClr val="tx1"/>
                </a:solidFill>
                <a:effectLst/>
                <a:latin typeface="+mn-lt"/>
                <a:ea typeface="+mn-ea"/>
                <a:cs typeface="+mn-cs"/>
              </a:rPr>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u="none" strike="noStrike" kern="1200" dirty="0">
                <a:solidFill>
                  <a:schemeClr val="tx1"/>
                </a:solidFill>
                <a:effectLst/>
                <a:latin typeface="+mn-lt"/>
                <a:ea typeface="+mn-ea"/>
                <a:cs typeface="+mn-cs"/>
              </a:rPr>
              <a:t>This slide presents descriptive statistics of all numeric variables from the dataset. It allows us to grasp general characteristics of the data distribution, including means and ranges of different metrics. For instance, the slide demonstrates the mean number of hours spent on training, fitness scores, and many more interesting details. This part is essential as it creates a basis for further analysis.</a:t>
            </a:r>
            <a:r>
              <a:rPr lang="en-US" sz="1200" b="0" i="0" kern="1200" dirty="0">
                <a:solidFill>
                  <a:schemeClr val="tx1"/>
                </a:solidFill>
                <a:effectLst/>
                <a:latin typeface="+mn-lt"/>
                <a:ea typeface="+mn-ea"/>
                <a:cs typeface="+mn-cs"/>
              </a:rPr>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u="none" strike="noStrike" kern="1200" dirty="0">
                <a:solidFill>
                  <a:schemeClr val="tx1"/>
                </a:solidFill>
                <a:effectLst/>
                <a:latin typeface="+mn-lt"/>
                <a:ea typeface="+mn-ea"/>
                <a:cs typeface="+mn-cs"/>
              </a:rPr>
              <a:t>Here, the distribution of key variables through histograms is considered. The majority of the key variables have a normal distribution pattern, meaning that the data set has a balanced distribution and is ideal for analysis. Moreover, this assists in determining the average value of key variables for players.</a:t>
            </a:r>
            <a:r>
              <a:rPr lang="en-US" sz="1200" b="0" i="0" kern="1200" dirty="0">
                <a:solidFill>
                  <a:schemeClr val="tx1"/>
                </a:solidFill>
                <a:effectLst/>
                <a:latin typeface="+mn-lt"/>
                <a:ea typeface="+mn-ea"/>
                <a:cs typeface="+mn-cs"/>
              </a:rPr>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u="none" strike="noStrike" kern="1200" dirty="0">
                <a:solidFill>
                  <a:schemeClr val="tx1"/>
                </a:solidFill>
                <a:effectLst/>
                <a:latin typeface="+mn-lt"/>
                <a:ea typeface="+mn-ea"/>
                <a:cs typeface="+mn-cs"/>
              </a:rPr>
              <a:t>The box plots show the comparison between players who were injured and those who were not. It is clear that there are notable differences between the two groups. The stress levels for players who sustained injuries are relatively higher, while their sleep and balance abilities are lower.</a:t>
            </a:r>
            <a:r>
              <a:rPr lang="en-US" sz="1200" b="0" i="0" kern="1200" dirty="0">
                <a:solidFill>
                  <a:schemeClr val="tx1"/>
                </a:solidFill>
                <a:effectLst/>
                <a:latin typeface="+mn-lt"/>
                <a:ea typeface="+mn-ea"/>
                <a:cs typeface="+mn-cs"/>
              </a:rPr>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u="none" strike="noStrike" kern="1200" dirty="0">
                <a:solidFill>
                  <a:schemeClr val="tx1"/>
                </a:solidFill>
                <a:effectLst/>
                <a:latin typeface="+mn-lt"/>
                <a:ea typeface="+mn-ea"/>
                <a:cs typeface="+mn-cs"/>
              </a:rPr>
              <a:t>This correlation matrix demonstrates the relationship between various variables. The color red signifies a positive correlation, and the color blue shows a negative correlation. It is clear from this correlation matrix that high levels of stress increase the likelihood of injuries, while proper nutrition and healthy behaviors decrease the likelihood of injuries.</a:t>
            </a:r>
            <a:r>
              <a:rPr lang="en-US" sz="1200" b="0" i="0" kern="1200" dirty="0">
                <a:solidFill>
                  <a:schemeClr val="tx1"/>
                </a:solidFill>
                <a:effectLst/>
                <a:latin typeface="+mn-lt"/>
                <a:ea typeface="+mn-ea"/>
                <a:cs typeface="+mn-cs"/>
              </a:rPr>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u="none" strike="noStrike" kern="1200" dirty="0">
                <a:solidFill>
                  <a:schemeClr val="tx1"/>
                </a:solidFill>
                <a:effectLst/>
                <a:latin typeface="+mn-lt"/>
                <a:ea typeface="+mn-ea"/>
                <a:cs typeface="+mn-cs"/>
              </a:rPr>
              <a:t>These graphs provide a more in-depth understanding of the relationship between variables. For instance, we get to understand the relationship between stress and sleep and the difference between them depending on whether the athletes have sustained injuries.</a:t>
            </a:r>
            <a:r>
              <a:rPr lang="en-US" sz="1200" b="0" i="0" kern="1200" dirty="0">
                <a:solidFill>
                  <a:schemeClr val="tx1"/>
                </a:solidFill>
                <a:effectLst/>
                <a:latin typeface="+mn-lt"/>
                <a:ea typeface="+mn-ea"/>
                <a:cs typeface="+mn-cs"/>
              </a:rPr>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7CC10B-6815-6B6D-A246-5439391429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ED911BB-54E5-FEC8-C021-7ADBD35333B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6909187-2D80-9A54-B24A-2C10614B5AD1}"/>
              </a:ext>
            </a:extLst>
          </p:cNvPr>
          <p:cNvSpPr>
            <a:spLocks noGrp="1"/>
          </p:cNvSpPr>
          <p:nvPr>
            <p:ph type="body" idx="1"/>
          </p:nvPr>
        </p:nvSpPr>
        <p:spPr/>
        <p:txBody>
          <a:bodyPr/>
          <a:lstStyle/>
          <a:p>
            <a:r>
              <a:rPr lang="en-US" sz="1200" b="0" i="0" u="none" strike="noStrike" kern="1200" dirty="0">
                <a:solidFill>
                  <a:schemeClr val="tx1"/>
                </a:solidFill>
                <a:effectLst/>
                <a:latin typeface="+mn-lt"/>
                <a:ea typeface="+mn-ea"/>
                <a:cs typeface="+mn-cs"/>
              </a:rPr>
              <a:t>This slide presents injury incidence by playing positions. It is apparent that forwards and midfield players experience a higher rate of injuries than defenders and goalkeepers. This may be due to the fact that these players need to be faster and more mobile while playing.</a:t>
            </a:r>
            <a:r>
              <a:rPr lang="en-US" sz="1200" b="0" i="0" kern="1200" dirty="0">
                <a:solidFill>
                  <a:schemeClr val="tx1"/>
                </a:solidFill>
                <a:effectLst/>
                <a:latin typeface="+mn-lt"/>
                <a:ea typeface="+mn-ea"/>
                <a:cs typeface="+mn-cs"/>
              </a:rPr>
              <a:t>​</a:t>
            </a:r>
            <a:endParaRPr lang="en-US" dirty="0"/>
          </a:p>
        </p:txBody>
      </p:sp>
      <p:sp>
        <p:nvSpPr>
          <p:cNvPr id="4" name="Slide Number Placeholder 3">
            <a:extLst>
              <a:ext uri="{FF2B5EF4-FFF2-40B4-BE49-F238E27FC236}">
                <a16:creationId xmlns:a16="http://schemas.microsoft.com/office/drawing/2014/main" id="{8DC47F99-6638-73DD-4F45-D889D9D10B19}"/>
              </a:ext>
            </a:extLst>
          </p:cNvPr>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76002106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B7DAE9-C3A6-2796-9C7C-8954E17D904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7ED9A9-E121-1088-0ECC-DD6C06B292A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54DC521-2788-5A7E-06E8-5EABA95E802F}"/>
              </a:ext>
            </a:extLst>
          </p:cNvPr>
          <p:cNvSpPr>
            <a:spLocks noGrp="1"/>
          </p:cNvSpPr>
          <p:nvPr>
            <p:ph type="body" idx="1"/>
          </p:nvPr>
        </p:nvSpPr>
        <p:spPr/>
        <p:txBody>
          <a:bodyPr/>
          <a:lstStyle/>
          <a:p>
            <a:r>
              <a:rPr lang="en-US" sz="1200" b="0" i="0" u="none" strike="noStrike" kern="1200" dirty="0">
                <a:solidFill>
                  <a:schemeClr val="tx1"/>
                </a:solidFill>
                <a:effectLst/>
                <a:latin typeface="+mn-lt"/>
                <a:ea typeface="+mn-ea"/>
                <a:cs typeface="+mn-cs"/>
              </a:rPr>
              <a:t>In general, it can be stated that a number of variables may increase the possibility of injuries. First of all, lifestyle-related characteristics, including stress, sleep problems, and improper nutrition, have been shown to significantly affect the chances of injuries. Second, the history of previous injuries plays an important role in predicting future injuries.</a:t>
            </a:r>
            <a:r>
              <a:rPr lang="en-US" sz="1200" b="0" i="0" kern="1200" dirty="0">
                <a:solidFill>
                  <a:schemeClr val="tx1"/>
                </a:solidFill>
                <a:effectLst/>
                <a:latin typeface="+mn-lt"/>
                <a:ea typeface="+mn-ea"/>
                <a:cs typeface="+mn-cs"/>
              </a:rPr>
              <a:t>​</a:t>
            </a:r>
            <a:endParaRPr lang="en-US" dirty="0"/>
          </a:p>
        </p:txBody>
      </p:sp>
      <p:sp>
        <p:nvSpPr>
          <p:cNvPr id="4" name="Slide Number Placeholder 3">
            <a:extLst>
              <a:ext uri="{FF2B5EF4-FFF2-40B4-BE49-F238E27FC236}">
                <a16:creationId xmlns:a16="http://schemas.microsoft.com/office/drawing/2014/main" id="{ACE5C00E-8117-8113-D08E-4A5A28BE4CF6}"/>
              </a:ext>
            </a:extLst>
          </p:cNvPr>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403951494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u="none" strike="noStrike" kern="1200" dirty="0">
                <a:solidFill>
                  <a:schemeClr val="tx1"/>
                </a:solidFill>
                <a:effectLst/>
                <a:latin typeface="+mn-lt"/>
                <a:ea typeface="+mn-ea"/>
                <a:cs typeface="+mn-cs"/>
              </a:rPr>
              <a:t>Moreover, there are several ethical implications related to the use of this kind of information. Health-related data of athletes is extremely sensitive, and, therefore, security and privacy become crucial elements. Additionally, it is essential not to classify players as high-risk individuals and cause harm to them. The primary goal of such models is to assist in decision-making and not substitute humans, informing athletes of all data usage aspects.</a:t>
            </a:r>
            <a:r>
              <a:rPr lang="en-US" sz="1200" b="0" i="0" kern="1200" dirty="0">
                <a:solidFill>
                  <a:schemeClr val="tx1"/>
                </a:solidFill>
                <a:effectLst/>
                <a:latin typeface="+mn-lt"/>
                <a:ea typeface="+mn-ea"/>
                <a:cs typeface="+mn-cs"/>
              </a:rPr>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CAF386-025C-5ED7-8944-ED4A694B60D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4C5DCB1-42DE-C1CD-C86D-F1EE5368CED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AB262D3-67B7-BEDD-92D4-0640F4345938}"/>
              </a:ext>
            </a:extLst>
          </p:cNvPr>
          <p:cNvSpPr>
            <a:spLocks noGrp="1"/>
          </p:cNvSpPr>
          <p:nvPr>
            <p:ph type="body" idx="1"/>
          </p:nvPr>
        </p:nvSpPr>
        <p:spPr/>
        <p:txBody>
          <a:bodyPr/>
          <a:lstStyle/>
          <a:p>
            <a:r>
              <a:rPr lang="en-US" sz="1200" b="0" i="0" u="none" strike="noStrike" kern="1200" dirty="0">
                <a:solidFill>
                  <a:schemeClr val="tx1"/>
                </a:solidFill>
                <a:effectLst/>
                <a:latin typeface="+mn-lt"/>
                <a:ea typeface="+mn-ea"/>
                <a:cs typeface="+mn-cs"/>
              </a:rPr>
              <a:t>To conclude, this study offers important information that can assist in lowering injury rates among sportsmen and sport teams. Improved health results in improved performance and enjoyment on the part of sportsmen and spectators. This study can be further developed by considering several sport seasons and introducing the information gained into practice.</a:t>
            </a:r>
            <a:r>
              <a:rPr lang="en-US" sz="1200" b="0" i="0" kern="1200" dirty="0">
                <a:solidFill>
                  <a:schemeClr val="tx1"/>
                </a:solidFill>
                <a:effectLst/>
                <a:latin typeface="+mn-lt"/>
                <a:ea typeface="+mn-ea"/>
                <a:cs typeface="+mn-cs"/>
              </a:rPr>
              <a:t>​</a:t>
            </a:r>
            <a:endParaRPr lang="en-US" dirty="0"/>
          </a:p>
        </p:txBody>
      </p:sp>
      <p:sp>
        <p:nvSpPr>
          <p:cNvPr id="4" name="Slide Number Placeholder 3">
            <a:extLst>
              <a:ext uri="{FF2B5EF4-FFF2-40B4-BE49-F238E27FC236}">
                <a16:creationId xmlns:a16="http://schemas.microsoft.com/office/drawing/2014/main" id="{7E35DEF6-9E8E-3630-8C30-44E027C9732C}"/>
              </a:ext>
            </a:extLst>
          </p:cNvPr>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382602352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A4A"/>
        </a:solidFill>
        <a:effectLst/>
      </p:bgPr>
    </p:bg>
    <p:spTree>
      <p:nvGrpSpPr>
        <p:cNvPr id="1" name=""/>
        <p:cNvGrpSpPr/>
        <p:nvPr/>
      </p:nvGrpSpPr>
      <p:grpSpPr>
        <a:xfrm>
          <a:off x="0" y="0"/>
          <a:ext cx="0" cy="0"/>
          <a:chOff x="0" y="0"/>
          <a:chExt cx="0" cy="0"/>
        </a:xfrm>
      </p:grpSpPr>
      <p:sp>
        <p:nvSpPr>
          <p:cNvPr id="2" name="Shape 0"/>
          <p:cNvSpPr/>
          <p:nvPr/>
        </p:nvSpPr>
        <p:spPr>
          <a:xfrm>
            <a:off x="0" y="0"/>
            <a:ext cx="201168" cy="5143500"/>
          </a:xfrm>
          <a:prstGeom prst="rect">
            <a:avLst/>
          </a:prstGeom>
          <a:solidFill>
            <a:srgbClr val="E8624A"/>
          </a:solidFill>
          <a:ln w="12700">
            <a:solidFill>
              <a:srgbClr val="E8624A"/>
            </a:solidFill>
            <a:prstDash val="solid"/>
          </a:ln>
        </p:spPr>
        <p:txBody>
          <a:bodyPr/>
          <a:lstStyle/>
          <a:p>
            <a:endParaRPr lang="en-US"/>
          </a:p>
        </p:txBody>
      </p:sp>
      <p:sp>
        <p:nvSpPr>
          <p:cNvPr id="3" name="Shape 1"/>
          <p:cNvSpPr/>
          <p:nvPr/>
        </p:nvSpPr>
        <p:spPr>
          <a:xfrm>
            <a:off x="8046720" y="457200"/>
            <a:ext cx="1371600" cy="1371600"/>
          </a:xfrm>
          <a:prstGeom prst="ellipse">
            <a:avLst/>
          </a:prstGeom>
          <a:solidFill>
            <a:srgbClr val="E8624A">
              <a:alpha val="20000"/>
            </a:srgbClr>
          </a:solidFill>
          <a:ln w="12700">
            <a:solidFill>
              <a:srgbClr val="E8624A">
                <a:alpha val="20000"/>
              </a:srgbClr>
            </a:solidFill>
            <a:prstDash val="solid"/>
          </a:ln>
        </p:spPr>
        <p:txBody>
          <a:bodyPr/>
          <a:lstStyle/>
          <a:p>
            <a:endParaRPr lang="en-US"/>
          </a:p>
        </p:txBody>
      </p:sp>
      <p:sp>
        <p:nvSpPr>
          <p:cNvPr id="4" name="Text 2"/>
          <p:cNvSpPr/>
          <p:nvPr/>
        </p:nvSpPr>
        <p:spPr>
          <a:xfrm>
            <a:off x="548640" y="1463040"/>
            <a:ext cx="7772400" cy="548640"/>
          </a:xfrm>
          <a:prstGeom prst="rect">
            <a:avLst/>
          </a:prstGeom>
          <a:noFill/>
          <a:ln/>
        </p:spPr>
        <p:txBody>
          <a:bodyPr wrap="square" lIns="0" tIns="0" rIns="0" bIns="0" rtlCol="0" anchor="ctr"/>
          <a:lstStyle/>
          <a:p>
            <a:pPr marL="0" indent="0">
              <a:buNone/>
            </a:pPr>
            <a:r>
              <a:rPr lang="en-US" sz="3400" b="1" dirty="0">
                <a:solidFill>
                  <a:srgbClr val="FFFFFF"/>
                </a:solidFill>
                <a:latin typeface="Calibri" pitchFamily="34" charset="0"/>
                <a:ea typeface="Calibri" pitchFamily="34" charset="-122"/>
                <a:cs typeface="Calibri" pitchFamily="34" charset="-120"/>
              </a:rPr>
              <a:t>Injury Risk in University Soccer Players</a:t>
            </a:r>
            <a:endParaRPr lang="en-US" sz="3400" dirty="0"/>
          </a:p>
        </p:txBody>
      </p:sp>
      <p:sp>
        <p:nvSpPr>
          <p:cNvPr id="5" name="Text 3"/>
          <p:cNvSpPr/>
          <p:nvPr/>
        </p:nvSpPr>
        <p:spPr>
          <a:xfrm>
            <a:off x="548640" y="2194560"/>
            <a:ext cx="6858000" cy="594360"/>
          </a:xfrm>
          <a:prstGeom prst="rect">
            <a:avLst/>
          </a:prstGeom>
          <a:noFill/>
          <a:ln/>
        </p:spPr>
        <p:txBody>
          <a:bodyPr wrap="square" lIns="0" tIns="0" rIns="0" bIns="0" rtlCol="0" anchor="ctr"/>
          <a:lstStyle/>
          <a:p>
            <a:pPr marL="0" indent="0">
              <a:buNone/>
            </a:pPr>
            <a:r>
              <a:rPr lang="en-US" sz="1500" dirty="0">
                <a:solidFill>
                  <a:srgbClr val="AAAAAA"/>
                </a:solidFill>
                <a:latin typeface="Calibri" pitchFamily="34" charset="0"/>
                <a:ea typeface="Calibri" pitchFamily="34" charset="-122"/>
                <a:cs typeface="Calibri" pitchFamily="34" charset="-120"/>
              </a:rPr>
              <a:t>Predicting Injury Risk with Data</a:t>
            </a:r>
          </a:p>
        </p:txBody>
      </p:sp>
      <p:sp>
        <p:nvSpPr>
          <p:cNvPr id="6" name="Shape 4"/>
          <p:cNvSpPr/>
          <p:nvPr/>
        </p:nvSpPr>
        <p:spPr>
          <a:xfrm>
            <a:off x="548640" y="2971800"/>
            <a:ext cx="1097280" cy="54864"/>
          </a:xfrm>
          <a:prstGeom prst="rect">
            <a:avLst/>
          </a:prstGeom>
          <a:solidFill>
            <a:srgbClr val="E8624A"/>
          </a:solidFill>
          <a:ln w="12700">
            <a:solidFill>
              <a:srgbClr val="E8624A"/>
            </a:solidFill>
            <a:prstDash val="solid"/>
          </a:ln>
        </p:spPr>
        <p:txBody>
          <a:bodyPr/>
          <a:lstStyle/>
          <a:p>
            <a:endParaRPr lang="en-US"/>
          </a:p>
        </p:txBody>
      </p:sp>
      <p:sp>
        <p:nvSpPr>
          <p:cNvPr id="7" name="Text 5"/>
          <p:cNvSpPr/>
          <p:nvPr/>
        </p:nvSpPr>
        <p:spPr>
          <a:xfrm>
            <a:off x="548640" y="3200400"/>
            <a:ext cx="6400800" cy="320040"/>
          </a:xfrm>
          <a:prstGeom prst="rect">
            <a:avLst/>
          </a:prstGeom>
          <a:noFill/>
          <a:ln/>
        </p:spPr>
        <p:txBody>
          <a:bodyPr wrap="square" lIns="0" tIns="0" rIns="0" bIns="0" rtlCol="0" anchor="ctr"/>
          <a:lstStyle/>
          <a:p>
            <a:pPr marL="0" indent="0">
              <a:buNone/>
            </a:pPr>
            <a:r>
              <a:rPr lang="en-US" sz="1100" dirty="0">
                <a:solidFill>
                  <a:srgbClr val="AAAAAA"/>
                </a:solidFill>
                <a:latin typeface="Calibri" pitchFamily="34" charset="0"/>
                <a:ea typeface="Calibri" pitchFamily="34" charset="-122"/>
                <a:cs typeface="Calibri" pitchFamily="34" charset="-120"/>
              </a:rPr>
              <a:t>Tarun Vigneswaran &amp; Joseph Altmann  ·  4/6/26  ·  DSC 101</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94360"/>
          </a:xfrm>
          <a:prstGeom prst="rect">
            <a:avLst/>
          </a:prstGeom>
          <a:solidFill>
            <a:srgbClr val="1B2A4A"/>
          </a:solidFill>
          <a:ln w="12700">
            <a:solidFill>
              <a:srgbClr val="1B2A4A"/>
            </a:solidFill>
            <a:prstDash val="solid"/>
          </a:ln>
        </p:spPr>
        <p:txBody>
          <a:bodyPr/>
          <a:lstStyle/>
          <a:p>
            <a:endParaRPr lang="en-US"/>
          </a:p>
        </p:txBody>
      </p:sp>
      <p:sp>
        <p:nvSpPr>
          <p:cNvPr id="3" name="Shape 1"/>
          <p:cNvSpPr/>
          <p:nvPr/>
        </p:nvSpPr>
        <p:spPr>
          <a:xfrm>
            <a:off x="0" y="0"/>
            <a:ext cx="109728" cy="594360"/>
          </a:xfrm>
          <a:prstGeom prst="rect">
            <a:avLst/>
          </a:prstGeom>
          <a:solidFill>
            <a:srgbClr val="E8624A"/>
          </a:solidFill>
          <a:ln w="12700">
            <a:solidFill>
              <a:srgbClr val="E8624A"/>
            </a:solidFill>
            <a:prstDash val="solid"/>
          </a:ln>
        </p:spPr>
        <p:txBody>
          <a:bodyPr/>
          <a:lstStyle/>
          <a:p>
            <a:endParaRPr lang="en-US"/>
          </a:p>
        </p:txBody>
      </p:sp>
      <p:sp>
        <p:nvSpPr>
          <p:cNvPr id="4" name="Shape 2"/>
          <p:cNvSpPr/>
          <p:nvPr/>
        </p:nvSpPr>
        <p:spPr>
          <a:xfrm>
            <a:off x="0" y="4887468"/>
            <a:ext cx="9144000" cy="256032"/>
          </a:xfrm>
          <a:prstGeom prst="rect">
            <a:avLst/>
          </a:prstGeom>
          <a:solidFill>
            <a:srgbClr val="1B2A4A"/>
          </a:solidFill>
          <a:ln w="12700">
            <a:solidFill>
              <a:srgbClr val="1B2A4A"/>
            </a:solidFill>
            <a:prstDash val="solid"/>
          </a:ln>
        </p:spPr>
        <p:txBody>
          <a:bodyPr/>
          <a:lstStyle/>
          <a:p>
            <a:endParaRPr lang="en-US"/>
          </a:p>
        </p:txBody>
      </p:sp>
      <p:sp>
        <p:nvSpPr>
          <p:cNvPr id="5" name="Shape 3"/>
          <p:cNvSpPr/>
          <p:nvPr/>
        </p:nvSpPr>
        <p:spPr>
          <a:xfrm>
            <a:off x="0" y="4887468"/>
            <a:ext cx="109728" cy="256032"/>
          </a:xfrm>
          <a:prstGeom prst="rect">
            <a:avLst/>
          </a:prstGeom>
          <a:solidFill>
            <a:srgbClr val="E8624A"/>
          </a:solidFill>
          <a:ln w="12700">
            <a:solidFill>
              <a:srgbClr val="E8624A"/>
            </a:solidFill>
            <a:prstDash val="solid"/>
          </a:ln>
        </p:spPr>
        <p:txBody>
          <a:bodyPr/>
          <a:lstStyle/>
          <a:p>
            <a:endParaRPr lang="en-US"/>
          </a:p>
        </p:txBody>
      </p:sp>
      <p:sp>
        <p:nvSpPr>
          <p:cNvPr id="6" name="Text 4"/>
          <p:cNvSpPr/>
          <p:nvPr/>
        </p:nvSpPr>
        <p:spPr>
          <a:xfrm>
            <a:off x="228600" y="4887468"/>
            <a:ext cx="7315200" cy="256032"/>
          </a:xfrm>
          <a:prstGeom prst="rect">
            <a:avLst/>
          </a:prstGeom>
          <a:noFill/>
          <a:ln/>
        </p:spPr>
        <p:txBody>
          <a:bodyPr wrap="square" lIns="0" tIns="0" rIns="0" bIns="0" rtlCol="0" anchor="ctr"/>
          <a:lstStyle/>
          <a:p>
            <a:pPr marL="0" indent="0">
              <a:buNone/>
            </a:pPr>
            <a:endParaRPr lang="en-US" sz="800" dirty="0"/>
          </a:p>
        </p:txBody>
      </p:sp>
      <p:sp>
        <p:nvSpPr>
          <p:cNvPr id="7" name="Text 5"/>
          <p:cNvSpPr/>
          <p:nvPr/>
        </p:nvSpPr>
        <p:spPr>
          <a:xfrm>
            <a:off x="274320" y="0"/>
            <a:ext cx="8229600" cy="594360"/>
          </a:xfrm>
          <a:prstGeom prst="rect">
            <a:avLst/>
          </a:prstGeom>
          <a:noFill/>
          <a:ln/>
        </p:spPr>
        <p:txBody>
          <a:bodyPr wrap="square" lIns="0" tIns="0" rIns="0" bIns="0" rtlCol="0" anchor="ctr"/>
          <a:lstStyle/>
          <a:p>
            <a:pPr marL="0" indent="0">
              <a:buNone/>
            </a:pPr>
            <a:r>
              <a:rPr lang="en-US" sz="1800" b="1" dirty="0">
                <a:solidFill>
                  <a:srgbClr val="FFFFFF"/>
                </a:solidFill>
                <a:latin typeface="Calibri" pitchFamily="34" charset="0"/>
                <a:ea typeface="Calibri" pitchFamily="34" charset="-122"/>
                <a:cs typeface="Calibri" pitchFamily="34" charset="-120"/>
              </a:rPr>
              <a:t>Data Background and Overview</a:t>
            </a:r>
            <a:endParaRPr lang="en-US" sz="1800" dirty="0"/>
          </a:p>
        </p:txBody>
      </p:sp>
      <p:sp>
        <p:nvSpPr>
          <p:cNvPr id="8" name="Text 6"/>
          <p:cNvSpPr/>
          <p:nvPr/>
        </p:nvSpPr>
        <p:spPr>
          <a:xfrm>
            <a:off x="502920" y="914399"/>
            <a:ext cx="8001000" cy="3627621"/>
          </a:xfrm>
          <a:prstGeom prst="rect">
            <a:avLst/>
          </a:prstGeom>
          <a:noFill/>
          <a:ln/>
        </p:spPr>
        <p:txBody>
          <a:bodyPr wrap="square" lIns="0" tIns="0" rIns="0" bIns="0" rtlCol="0" anchor="ctr"/>
          <a:lstStyle/>
          <a:p>
            <a:pPr marL="342900" indent="-342900">
              <a:buFont typeface="Arial" panose="020B0604020202020204" pitchFamily="34" charset="0"/>
              <a:buChar char="•"/>
            </a:pPr>
            <a:r>
              <a:rPr lang="en-US" sz="2000" b="1" dirty="0">
                <a:solidFill>
                  <a:srgbClr val="1B2A4A"/>
                </a:solidFill>
                <a:latin typeface="Calibri" pitchFamily="34" charset="0"/>
                <a:ea typeface="Calibri" pitchFamily="34" charset="-122"/>
                <a:cs typeface="Calibri" pitchFamily="34" charset="-120"/>
              </a:rPr>
              <a:t>Dataset contains data for 800 Chinese university soccer players</a:t>
            </a:r>
          </a:p>
          <a:p>
            <a:pPr marL="342900" indent="-342900">
              <a:buFont typeface="Arial" panose="020B0604020202020204" pitchFamily="34" charset="0"/>
              <a:buChar char="•"/>
            </a:pPr>
            <a:r>
              <a:rPr lang="en-US" sz="2000" b="1" dirty="0">
                <a:solidFill>
                  <a:srgbClr val="1B2A4A"/>
                </a:solidFill>
                <a:latin typeface="Calibri" pitchFamily="34" charset="0"/>
                <a:ea typeface="Calibri" pitchFamily="34" charset="-122"/>
                <a:cs typeface="Calibri" pitchFamily="34" charset="-120"/>
              </a:rPr>
              <a:t>Includes 18 variables covering</a:t>
            </a:r>
          </a:p>
          <a:p>
            <a:pPr marL="800100" lvl="1" indent="-342900">
              <a:buFont typeface="Arial" panose="020B0604020202020204" pitchFamily="34" charset="0"/>
              <a:buChar char="•"/>
            </a:pPr>
            <a:r>
              <a:rPr lang="en-US" sz="2000" dirty="0">
                <a:solidFill>
                  <a:srgbClr val="1B2A4A"/>
                </a:solidFill>
                <a:latin typeface="Calibri" pitchFamily="34" charset="0"/>
                <a:ea typeface="Calibri" pitchFamily="34" charset="-122"/>
                <a:cs typeface="Calibri" pitchFamily="34" charset="-120"/>
              </a:rPr>
              <a:t>Basic information (age, height, weight, etc.)</a:t>
            </a:r>
          </a:p>
          <a:p>
            <a:pPr marL="800100" lvl="1" indent="-342900">
              <a:buFont typeface="Arial" panose="020B0604020202020204" pitchFamily="34" charset="0"/>
              <a:buChar char="•"/>
            </a:pPr>
            <a:r>
              <a:rPr lang="en-US" sz="2000" dirty="0">
                <a:solidFill>
                  <a:srgbClr val="1B2A4A"/>
                </a:solidFill>
                <a:latin typeface="Calibri" pitchFamily="34" charset="0"/>
                <a:ea typeface="Calibri" pitchFamily="34" charset="-122"/>
                <a:cs typeface="Calibri" pitchFamily="34" charset="-120"/>
              </a:rPr>
              <a:t>Physical fitness (agility, sprint speed, balance, flexibility, etc.)</a:t>
            </a:r>
          </a:p>
          <a:p>
            <a:pPr marL="800100" lvl="1" indent="-342900">
              <a:buFont typeface="Arial" panose="020B0604020202020204" pitchFamily="34" charset="0"/>
              <a:buChar char="•"/>
            </a:pPr>
            <a:r>
              <a:rPr lang="en-US" sz="2000" dirty="0">
                <a:solidFill>
                  <a:srgbClr val="1B2A4A"/>
                </a:solidFill>
                <a:latin typeface="Calibri" pitchFamily="34" charset="0"/>
                <a:ea typeface="Calibri" pitchFamily="34" charset="-122"/>
                <a:cs typeface="Calibri" pitchFamily="34" charset="-120"/>
              </a:rPr>
              <a:t>Training factors (training hours, matches played, etc.)</a:t>
            </a:r>
          </a:p>
          <a:p>
            <a:pPr marL="800100" lvl="1" indent="-342900">
              <a:buFont typeface="Arial" panose="020B0604020202020204" pitchFamily="34" charset="0"/>
              <a:buChar char="•"/>
            </a:pPr>
            <a:r>
              <a:rPr lang="en-US" sz="2000" dirty="0">
                <a:solidFill>
                  <a:srgbClr val="1B2A4A"/>
                </a:solidFill>
                <a:latin typeface="Calibri" pitchFamily="34" charset="0"/>
                <a:ea typeface="Calibri" pitchFamily="34" charset="-122"/>
                <a:cs typeface="Calibri" pitchFamily="34" charset="-120"/>
              </a:rPr>
              <a:t>Lifestyle Habits (sleep, stress, nutrition, warmup routine)</a:t>
            </a:r>
          </a:p>
          <a:p>
            <a:pPr marL="800100" lvl="1" indent="-342900">
              <a:buFont typeface="Arial" panose="020B0604020202020204" pitchFamily="34" charset="0"/>
              <a:buChar char="•"/>
            </a:pPr>
            <a:r>
              <a:rPr lang="en-US" sz="2000" dirty="0">
                <a:solidFill>
                  <a:srgbClr val="1B2A4A"/>
                </a:solidFill>
                <a:latin typeface="Calibri" pitchFamily="34" charset="0"/>
                <a:ea typeface="Calibri" pitchFamily="34" charset="-122"/>
                <a:cs typeface="Calibri" pitchFamily="34" charset="-120"/>
              </a:rPr>
              <a:t>Injury outcome</a:t>
            </a:r>
          </a:p>
          <a:p>
            <a:pPr lvl="1"/>
            <a:endParaRPr lang="en-US" sz="2000" b="1" dirty="0">
              <a:solidFill>
                <a:srgbClr val="1B2A4A"/>
              </a:solidFill>
              <a:latin typeface="Calibri" pitchFamily="34" charset="0"/>
              <a:ea typeface="Calibri" pitchFamily="34" charset="-122"/>
              <a:cs typeface="Calibri" pitchFamily="34" charset="-120"/>
            </a:endParaRPr>
          </a:p>
          <a:p>
            <a:pPr marL="342900" indent="-342900">
              <a:buFont typeface="Arial" panose="020B0604020202020204" pitchFamily="34" charset="0"/>
              <a:buChar char="•"/>
            </a:pPr>
            <a:r>
              <a:rPr lang="en-US" sz="2000" b="1" dirty="0">
                <a:solidFill>
                  <a:srgbClr val="1B2A4A"/>
                </a:solidFill>
                <a:latin typeface="Calibri" pitchFamily="34" charset="0"/>
                <a:ea typeface="Calibri" pitchFamily="34" charset="-122"/>
                <a:cs typeface="Calibri" pitchFamily="34" charset="-120"/>
              </a:rPr>
              <a:t>Data obtained from Kaggle, originates from a comprehensive study done by the university using medical records, coach reports, and student surveys. Published in Scientific Reports (2025)</a:t>
            </a:r>
          </a:p>
          <a:p>
            <a:pPr marL="342900" indent="-342900">
              <a:buFont typeface="Arial" panose="020B0604020202020204" pitchFamily="34" charset="0"/>
              <a:buChar char="•"/>
            </a:pPr>
            <a:endParaRPr lang="en-US" sz="2000" b="1" dirty="0">
              <a:solidFill>
                <a:srgbClr val="1B2A4A"/>
              </a:solidFill>
              <a:latin typeface="Calibri" pitchFamily="34" charset="0"/>
              <a:ea typeface="Calibri" pitchFamily="34" charset="-122"/>
              <a:cs typeface="Calibri" pitchFamily="34" charset="-120"/>
            </a:endParaRPr>
          </a:p>
          <a:p>
            <a:pPr marL="342900" indent="-342900">
              <a:buFont typeface="Arial" panose="020B0604020202020204" pitchFamily="34" charset="0"/>
              <a:buChar char="•"/>
            </a:pPr>
            <a:endParaRPr lang="en-US" sz="2000" dirty="0"/>
          </a:p>
        </p:txBody>
      </p:sp>
      <p:sp>
        <p:nvSpPr>
          <p:cNvPr id="9" name="Text 7"/>
          <p:cNvSpPr/>
          <p:nvPr/>
        </p:nvSpPr>
        <p:spPr>
          <a:xfrm>
            <a:off x="502920" y="1508760"/>
            <a:ext cx="8138160" cy="1371600"/>
          </a:xfrm>
          <a:prstGeom prst="rect">
            <a:avLst/>
          </a:prstGeom>
          <a:noFill/>
          <a:ln/>
        </p:spPr>
        <p:txBody>
          <a:bodyPr wrap="square" lIns="0" tIns="0" rIns="0" bIns="0" rtlCol="0" anchor="ctr"/>
          <a:lstStyle/>
          <a:p>
            <a:pPr marL="0" indent="0">
              <a:buNone/>
            </a:pP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94360"/>
          </a:xfrm>
          <a:prstGeom prst="rect">
            <a:avLst/>
          </a:prstGeom>
          <a:solidFill>
            <a:srgbClr val="1B2A4A"/>
          </a:solidFill>
          <a:ln w="12700">
            <a:solidFill>
              <a:srgbClr val="1B2A4A"/>
            </a:solidFill>
            <a:prstDash val="solid"/>
          </a:ln>
        </p:spPr>
        <p:txBody>
          <a:bodyPr/>
          <a:lstStyle/>
          <a:p>
            <a:endParaRPr lang="en-US"/>
          </a:p>
        </p:txBody>
      </p:sp>
      <p:sp>
        <p:nvSpPr>
          <p:cNvPr id="3" name="Shape 1"/>
          <p:cNvSpPr/>
          <p:nvPr/>
        </p:nvSpPr>
        <p:spPr>
          <a:xfrm>
            <a:off x="0" y="0"/>
            <a:ext cx="109728" cy="594360"/>
          </a:xfrm>
          <a:prstGeom prst="rect">
            <a:avLst/>
          </a:prstGeom>
          <a:solidFill>
            <a:srgbClr val="E8624A"/>
          </a:solidFill>
          <a:ln w="12700">
            <a:solidFill>
              <a:srgbClr val="E8624A"/>
            </a:solidFill>
            <a:prstDash val="solid"/>
          </a:ln>
        </p:spPr>
        <p:txBody>
          <a:bodyPr/>
          <a:lstStyle/>
          <a:p>
            <a:endParaRPr lang="en-US"/>
          </a:p>
        </p:txBody>
      </p:sp>
      <p:sp>
        <p:nvSpPr>
          <p:cNvPr id="4" name="Shape 2"/>
          <p:cNvSpPr/>
          <p:nvPr/>
        </p:nvSpPr>
        <p:spPr>
          <a:xfrm>
            <a:off x="0" y="4887468"/>
            <a:ext cx="9144000" cy="256032"/>
          </a:xfrm>
          <a:prstGeom prst="rect">
            <a:avLst/>
          </a:prstGeom>
          <a:solidFill>
            <a:srgbClr val="1B2A4A"/>
          </a:solidFill>
          <a:ln w="12700">
            <a:solidFill>
              <a:srgbClr val="1B2A4A"/>
            </a:solidFill>
            <a:prstDash val="solid"/>
          </a:ln>
        </p:spPr>
        <p:txBody>
          <a:bodyPr/>
          <a:lstStyle/>
          <a:p>
            <a:endParaRPr lang="en-US"/>
          </a:p>
        </p:txBody>
      </p:sp>
      <p:sp>
        <p:nvSpPr>
          <p:cNvPr id="5" name="Shape 3"/>
          <p:cNvSpPr/>
          <p:nvPr/>
        </p:nvSpPr>
        <p:spPr>
          <a:xfrm>
            <a:off x="0" y="4887468"/>
            <a:ext cx="109728" cy="256032"/>
          </a:xfrm>
          <a:prstGeom prst="rect">
            <a:avLst/>
          </a:prstGeom>
          <a:solidFill>
            <a:srgbClr val="E8624A"/>
          </a:solidFill>
          <a:ln w="12700">
            <a:solidFill>
              <a:srgbClr val="E8624A"/>
            </a:solidFill>
            <a:prstDash val="solid"/>
          </a:ln>
        </p:spPr>
        <p:txBody>
          <a:bodyPr/>
          <a:lstStyle/>
          <a:p>
            <a:endParaRPr lang="en-US"/>
          </a:p>
        </p:txBody>
      </p:sp>
      <p:sp>
        <p:nvSpPr>
          <p:cNvPr id="6" name="Text 4"/>
          <p:cNvSpPr/>
          <p:nvPr/>
        </p:nvSpPr>
        <p:spPr>
          <a:xfrm>
            <a:off x="228600" y="4887468"/>
            <a:ext cx="7315200" cy="256032"/>
          </a:xfrm>
          <a:prstGeom prst="rect">
            <a:avLst/>
          </a:prstGeom>
          <a:noFill/>
          <a:ln/>
        </p:spPr>
        <p:txBody>
          <a:bodyPr wrap="square" lIns="0" tIns="0" rIns="0" bIns="0" rtlCol="0" anchor="ctr"/>
          <a:lstStyle/>
          <a:p>
            <a:pPr marL="0" indent="0">
              <a:buNone/>
            </a:pPr>
            <a:endParaRPr lang="en-US" sz="800" dirty="0"/>
          </a:p>
        </p:txBody>
      </p:sp>
      <p:sp>
        <p:nvSpPr>
          <p:cNvPr id="7" name="Text 5"/>
          <p:cNvSpPr/>
          <p:nvPr/>
        </p:nvSpPr>
        <p:spPr>
          <a:xfrm>
            <a:off x="274320" y="0"/>
            <a:ext cx="8229600" cy="594360"/>
          </a:xfrm>
          <a:prstGeom prst="rect">
            <a:avLst/>
          </a:prstGeom>
          <a:noFill/>
          <a:ln/>
        </p:spPr>
        <p:txBody>
          <a:bodyPr wrap="square" lIns="0" tIns="0" rIns="0" bIns="0" rtlCol="0" anchor="ctr"/>
          <a:lstStyle/>
          <a:p>
            <a:pPr marL="0" indent="0">
              <a:buNone/>
            </a:pPr>
            <a:r>
              <a:rPr lang="en-US" sz="1800" b="1" dirty="0">
                <a:solidFill>
                  <a:srgbClr val="FFFFFF"/>
                </a:solidFill>
                <a:latin typeface="Calibri" pitchFamily="34" charset="0"/>
                <a:ea typeface="Calibri" pitchFamily="34" charset="-122"/>
                <a:cs typeface="Calibri" pitchFamily="34" charset="-120"/>
              </a:rPr>
              <a:t>Research Objectives</a:t>
            </a:r>
          </a:p>
        </p:txBody>
      </p:sp>
      <p:sp>
        <p:nvSpPr>
          <p:cNvPr id="8" name="Text 6"/>
          <p:cNvSpPr/>
          <p:nvPr/>
        </p:nvSpPr>
        <p:spPr>
          <a:xfrm>
            <a:off x="502920" y="914400"/>
            <a:ext cx="8138160" cy="457200"/>
          </a:xfrm>
          <a:prstGeom prst="rect">
            <a:avLst/>
          </a:prstGeom>
          <a:noFill/>
          <a:ln/>
        </p:spPr>
        <p:txBody>
          <a:bodyPr wrap="square" lIns="0" tIns="0" rIns="0" bIns="0" rtlCol="0" anchor="ctr"/>
          <a:lstStyle/>
          <a:p>
            <a:pPr marL="0" indent="0">
              <a:buNone/>
            </a:pPr>
            <a:r>
              <a:rPr lang="en-US" sz="3200" b="1" dirty="0">
                <a:solidFill>
                  <a:srgbClr val="1B2A4A"/>
                </a:solidFill>
                <a:latin typeface="Calibri" pitchFamily="34" charset="0"/>
                <a:ea typeface="Calibri" pitchFamily="34" charset="-122"/>
                <a:cs typeface="Calibri" pitchFamily="34" charset="-120"/>
              </a:rPr>
              <a:t>Research Questions</a:t>
            </a:r>
            <a:endParaRPr lang="en-US" sz="3200" dirty="0"/>
          </a:p>
        </p:txBody>
      </p:sp>
      <p:sp>
        <p:nvSpPr>
          <p:cNvPr id="9" name="Text 7"/>
          <p:cNvSpPr/>
          <p:nvPr/>
        </p:nvSpPr>
        <p:spPr>
          <a:xfrm>
            <a:off x="502920" y="2404973"/>
            <a:ext cx="8138160" cy="1371600"/>
          </a:xfrm>
          <a:prstGeom prst="rect">
            <a:avLst/>
          </a:prstGeom>
          <a:noFill/>
          <a:ln/>
        </p:spPr>
        <p:txBody>
          <a:bodyPr wrap="square" lIns="0" tIns="0" rIns="0" bIns="0" rtlCol="0" anchor="ctr"/>
          <a:lstStyle/>
          <a:p>
            <a:pPr marL="342900" indent="-342900">
              <a:buAutoNum type="arabicPeriod"/>
            </a:pPr>
            <a:r>
              <a:rPr lang="en-US" sz="2400" dirty="0"/>
              <a:t>Which physical characteristics and fitness measures are most strongly associated with an increased risk of future injury?</a:t>
            </a:r>
          </a:p>
          <a:p>
            <a:pPr marL="342900" indent="-342900">
              <a:buAutoNum type="arabicPeriod"/>
            </a:pPr>
            <a:r>
              <a:rPr lang="en-US" sz="2400" dirty="0"/>
              <a:t>What lifestyle habits or routines are most strongly linked to an increased likelihood of future injury?</a:t>
            </a:r>
          </a:p>
          <a:p>
            <a:pPr marL="342900" indent="-342900">
              <a:buAutoNum type="arabicPeriod"/>
            </a:pPr>
            <a:r>
              <a:rPr lang="en-US" sz="2400" dirty="0"/>
              <a:t>Does previous injury, poor warmup, or over-training actually raise the likelihood of an injury</a:t>
            </a:r>
          </a:p>
          <a:p>
            <a:pPr marL="342900" indent="-342900">
              <a:buAutoNum type="arabicPeriod"/>
            </a:pPr>
            <a:r>
              <a:rPr lang="en-US" sz="2400" dirty="0"/>
              <a:t>Does a player's position put them at higher risk of an injury </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94360"/>
          </a:xfrm>
          <a:prstGeom prst="rect">
            <a:avLst/>
          </a:prstGeom>
          <a:solidFill>
            <a:srgbClr val="1B2A4A"/>
          </a:solidFill>
          <a:ln w="12700">
            <a:solidFill>
              <a:srgbClr val="1B2A4A"/>
            </a:solidFill>
            <a:prstDash val="solid"/>
          </a:ln>
        </p:spPr>
        <p:txBody>
          <a:bodyPr/>
          <a:lstStyle/>
          <a:p>
            <a:endParaRPr lang="en-US"/>
          </a:p>
        </p:txBody>
      </p:sp>
      <p:sp>
        <p:nvSpPr>
          <p:cNvPr id="3" name="Shape 1"/>
          <p:cNvSpPr/>
          <p:nvPr/>
        </p:nvSpPr>
        <p:spPr>
          <a:xfrm>
            <a:off x="0" y="0"/>
            <a:ext cx="109728" cy="594360"/>
          </a:xfrm>
          <a:prstGeom prst="rect">
            <a:avLst/>
          </a:prstGeom>
          <a:solidFill>
            <a:srgbClr val="E8624A"/>
          </a:solidFill>
          <a:ln w="12700">
            <a:solidFill>
              <a:srgbClr val="E8624A"/>
            </a:solidFill>
            <a:prstDash val="solid"/>
          </a:ln>
        </p:spPr>
        <p:txBody>
          <a:bodyPr/>
          <a:lstStyle/>
          <a:p>
            <a:endParaRPr lang="en-US"/>
          </a:p>
        </p:txBody>
      </p:sp>
      <p:sp>
        <p:nvSpPr>
          <p:cNvPr id="4" name="Shape 2"/>
          <p:cNvSpPr/>
          <p:nvPr/>
        </p:nvSpPr>
        <p:spPr>
          <a:xfrm>
            <a:off x="0" y="4887468"/>
            <a:ext cx="9144000" cy="256032"/>
          </a:xfrm>
          <a:prstGeom prst="rect">
            <a:avLst/>
          </a:prstGeom>
          <a:solidFill>
            <a:srgbClr val="1B2A4A"/>
          </a:solidFill>
          <a:ln w="12700">
            <a:solidFill>
              <a:srgbClr val="1B2A4A"/>
            </a:solidFill>
            <a:prstDash val="solid"/>
          </a:ln>
        </p:spPr>
        <p:txBody>
          <a:bodyPr/>
          <a:lstStyle/>
          <a:p>
            <a:endParaRPr lang="en-US"/>
          </a:p>
        </p:txBody>
      </p:sp>
      <p:sp>
        <p:nvSpPr>
          <p:cNvPr id="5" name="Shape 3"/>
          <p:cNvSpPr/>
          <p:nvPr/>
        </p:nvSpPr>
        <p:spPr>
          <a:xfrm>
            <a:off x="0" y="4887468"/>
            <a:ext cx="109728" cy="256032"/>
          </a:xfrm>
          <a:prstGeom prst="rect">
            <a:avLst/>
          </a:prstGeom>
          <a:solidFill>
            <a:srgbClr val="E8624A"/>
          </a:solidFill>
          <a:ln w="12700">
            <a:solidFill>
              <a:srgbClr val="E8624A"/>
            </a:solidFill>
            <a:prstDash val="solid"/>
          </a:ln>
        </p:spPr>
        <p:txBody>
          <a:bodyPr/>
          <a:lstStyle/>
          <a:p>
            <a:endParaRPr lang="en-US"/>
          </a:p>
        </p:txBody>
      </p:sp>
      <p:sp>
        <p:nvSpPr>
          <p:cNvPr id="6" name="Text 4"/>
          <p:cNvSpPr/>
          <p:nvPr/>
        </p:nvSpPr>
        <p:spPr>
          <a:xfrm>
            <a:off x="228600" y="4887468"/>
            <a:ext cx="7315200" cy="256032"/>
          </a:xfrm>
          <a:prstGeom prst="rect">
            <a:avLst/>
          </a:prstGeom>
          <a:noFill/>
          <a:ln/>
        </p:spPr>
        <p:txBody>
          <a:bodyPr wrap="square" lIns="0" tIns="0" rIns="0" bIns="0" rtlCol="0" anchor="ctr"/>
          <a:lstStyle/>
          <a:p>
            <a:pPr marL="0" indent="0">
              <a:buNone/>
            </a:pPr>
            <a:endParaRPr lang="en-US" sz="800" dirty="0"/>
          </a:p>
        </p:txBody>
      </p:sp>
      <p:sp>
        <p:nvSpPr>
          <p:cNvPr id="7" name="Text 5"/>
          <p:cNvSpPr/>
          <p:nvPr/>
        </p:nvSpPr>
        <p:spPr>
          <a:xfrm>
            <a:off x="274320" y="0"/>
            <a:ext cx="8229600" cy="594360"/>
          </a:xfrm>
          <a:prstGeom prst="rect">
            <a:avLst/>
          </a:prstGeom>
          <a:noFill/>
          <a:ln/>
        </p:spPr>
        <p:txBody>
          <a:bodyPr wrap="square" lIns="0" tIns="0" rIns="0" bIns="0" rtlCol="0" anchor="ctr"/>
          <a:lstStyle/>
          <a:p>
            <a:pPr marL="0" indent="0">
              <a:buNone/>
            </a:pPr>
            <a:r>
              <a:rPr lang="en-US" sz="1800" b="1" dirty="0">
                <a:solidFill>
                  <a:srgbClr val="FFFFFF"/>
                </a:solidFill>
                <a:latin typeface="Calibri" pitchFamily="34" charset="0"/>
                <a:ea typeface="Calibri" pitchFamily="34" charset="-122"/>
                <a:cs typeface="Calibri" pitchFamily="34" charset="-120"/>
              </a:rPr>
              <a:t>Exploratory Data Analysis</a:t>
            </a:r>
            <a:endParaRPr lang="en-US" sz="1800" dirty="0"/>
          </a:p>
        </p:txBody>
      </p:sp>
      <p:sp>
        <p:nvSpPr>
          <p:cNvPr id="8" name="Shape 6"/>
          <p:cNvSpPr/>
          <p:nvPr/>
        </p:nvSpPr>
        <p:spPr>
          <a:xfrm>
            <a:off x="44970" y="876925"/>
            <a:ext cx="4434840" cy="3642610"/>
          </a:xfrm>
          <a:prstGeom prst="rect">
            <a:avLst/>
          </a:prstGeom>
          <a:solidFill>
            <a:srgbClr val="F5F5F5"/>
          </a:solidFill>
          <a:ln w="12700">
            <a:solidFill>
              <a:srgbClr val="DDDDDD"/>
            </a:solidFill>
            <a:prstDash val="solid"/>
          </a:ln>
        </p:spPr>
        <p:txBody>
          <a:bodyPr/>
          <a:lstStyle/>
          <a:p>
            <a:endParaRPr lang="en-US"/>
          </a:p>
        </p:txBody>
      </p:sp>
      <p:sp>
        <p:nvSpPr>
          <p:cNvPr id="9" name="Text 7"/>
          <p:cNvSpPr/>
          <p:nvPr/>
        </p:nvSpPr>
        <p:spPr>
          <a:xfrm>
            <a:off x="320040" y="777240"/>
            <a:ext cx="4114800" cy="4229100"/>
          </a:xfrm>
          <a:prstGeom prst="rect">
            <a:avLst/>
          </a:prstGeom>
          <a:noFill/>
          <a:ln/>
        </p:spPr>
        <p:txBody>
          <a:bodyPr wrap="square" lIns="0" tIns="0" rIns="0" bIns="0" rtlCol="0" anchor="ctr"/>
          <a:lstStyle/>
          <a:p>
            <a:pPr marL="0" indent="0" algn="ctr">
              <a:buNone/>
            </a:pPr>
            <a:r>
              <a:rPr lang="en-US" sz="1400" dirty="0">
                <a:solidFill>
                  <a:srgbClr val="DDDDDD"/>
                </a:solidFill>
                <a:latin typeface="Calibri" pitchFamily="34" charset="0"/>
                <a:ea typeface="Calibri" pitchFamily="34" charset="-122"/>
                <a:cs typeface="Calibri" pitchFamily="34" charset="-120"/>
              </a:rPr>
              <a:t>[ Image ]</a:t>
            </a:r>
            <a:endParaRPr lang="en-US" sz="1400" dirty="0"/>
          </a:p>
        </p:txBody>
      </p:sp>
      <p:sp>
        <p:nvSpPr>
          <p:cNvPr id="10" name="Text 8"/>
          <p:cNvSpPr/>
          <p:nvPr/>
        </p:nvSpPr>
        <p:spPr>
          <a:xfrm>
            <a:off x="4709160" y="960120"/>
            <a:ext cx="4114800" cy="411480"/>
          </a:xfrm>
          <a:prstGeom prst="rect">
            <a:avLst/>
          </a:prstGeom>
          <a:noFill/>
          <a:ln/>
        </p:spPr>
        <p:txBody>
          <a:bodyPr wrap="square" lIns="0" tIns="0" rIns="0" bIns="0" rtlCol="0" anchor="ctr"/>
          <a:lstStyle/>
          <a:p>
            <a:pPr marL="0" indent="0">
              <a:buNone/>
            </a:pPr>
            <a:r>
              <a:rPr lang="en-US" sz="1600" b="1" dirty="0">
                <a:solidFill>
                  <a:srgbClr val="1B2A4A"/>
                </a:solidFill>
                <a:latin typeface="Calibri" pitchFamily="34" charset="0"/>
                <a:ea typeface="Calibri" pitchFamily="34" charset="-122"/>
                <a:cs typeface="Calibri" pitchFamily="34" charset="-120"/>
              </a:rPr>
              <a:t>Descriptive Statistics for Numerical Variables</a:t>
            </a:r>
            <a:endParaRPr lang="en-US" sz="1600" dirty="0"/>
          </a:p>
        </p:txBody>
      </p:sp>
      <p:sp>
        <p:nvSpPr>
          <p:cNvPr id="11" name="Text 9"/>
          <p:cNvSpPr/>
          <p:nvPr/>
        </p:nvSpPr>
        <p:spPr>
          <a:xfrm>
            <a:off x="4709160" y="777240"/>
            <a:ext cx="4114800" cy="2011680"/>
          </a:xfrm>
          <a:prstGeom prst="rect">
            <a:avLst/>
          </a:prstGeom>
          <a:noFill/>
          <a:ln/>
        </p:spPr>
        <p:txBody>
          <a:bodyPr wrap="square" lIns="0" tIns="0" rIns="0" bIns="0" rtlCol="0" anchor="ctr"/>
          <a:lstStyle/>
          <a:p>
            <a:pPr marL="0" indent="0">
              <a:buNone/>
            </a:pPr>
            <a:r>
              <a:rPr lang="en-US" sz="1250" dirty="0">
                <a:solidFill>
                  <a:srgbClr val="444444"/>
                </a:solidFill>
                <a:latin typeface="Calibri" pitchFamily="34" charset="0"/>
                <a:ea typeface="Calibri" pitchFamily="34" charset="-122"/>
                <a:cs typeface="Calibri" pitchFamily="34" charset="-120"/>
              </a:rPr>
              <a:t>Each variable has a numeric value associated with it to compare each player effectively</a:t>
            </a:r>
            <a:endParaRPr lang="en-US" sz="1250" dirty="0"/>
          </a:p>
        </p:txBody>
      </p:sp>
      <p:pic>
        <p:nvPicPr>
          <p:cNvPr id="13" name="Picture 12">
            <a:extLst>
              <a:ext uri="{FF2B5EF4-FFF2-40B4-BE49-F238E27FC236}">
                <a16:creationId xmlns:a16="http://schemas.microsoft.com/office/drawing/2014/main" id="{8F915D9B-AE81-7932-6A00-29940473AF85}"/>
              </a:ext>
            </a:extLst>
          </p:cNvPr>
          <p:cNvPicPr>
            <a:picLocks noChangeAspect="1"/>
          </p:cNvPicPr>
          <p:nvPr/>
        </p:nvPicPr>
        <p:blipFill>
          <a:blip r:embed="rId3"/>
          <a:stretch>
            <a:fillRect/>
          </a:stretch>
        </p:blipFill>
        <p:spPr>
          <a:xfrm>
            <a:off x="194765" y="1041816"/>
            <a:ext cx="4123947" cy="3295363"/>
          </a:xfrm>
          <a:prstGeom prst="rect">
            <a:avLst/>
          </a:prstGeom>
        </p:spPr>
      </p:pic>
      <p:pic>
        <p:nvPicPr>
          <p:cNvPr id="17" name="Picture 16">
            <a:extLst>
              <a:ext uri="{FF2B5EF4-FFF2-40B4-BE49-F238E27FC236}">
                <a16:creationId xmlns:a16="http://schemas.microsoft.com/office/drawing/2014/main" id="{FF2A529E-5DC4-598F-94E9-F1FCEE645BCD}"/>
              </a:ext>
            </a:extLst>
          </p:cNvPr>
          <p:cNvPicPr>
            <a:picLocks noChangeAspect="1"/>
          </p:cNvPicPr>
          <p:nvPr/>
        </p:nvPicPr>
        <p:blipFill>
          <a:blip r:embed="rId4"/>
          <a:stretch>
            <a:fillRect/>
          </a:stretch>
        </p:blipFill>
        <p:spPr>
          <a:xfrm>
            <a:off x="4897286" y="2106125"/>
            <a:ext cx="3686030" cy="2559925"/>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94360"/>
          </a:xfrm>
          <a:prstGeom prst="rect">
            <a:avLst/>
          </a:prstGeom>
          <a:solidFill>
            <a:srgbClr val="1B2A4A"/>
          </a:solidFill>
          <a:ln w="12700">
            <a:solidFill>
              <a:srgbClr val="1B2A4A"/>
            </a:solidFill>
            <a:prstDash val="solid"/>
          </a:ln>
        </p:spPr>
        <p:txBody>
          <a:bodyPr/>
          <a:lstStyle/>
          <a:p>
            <a:endParaRPr lang="en-US"/>
          </a:p>
        </p:txBody>
      </p:sp>
      <p:sp>
        <p:nvSpPr>
          <p:cNvPr id="3" name="Shape 1"/>
          <p:cNvSpPr/>
          <p:nvPr/>
        </p:nvSpPr>
        <p:spPr>
          <a:xfrm>
            <a:off x="0" y="0"/>
            <a:ext cx="109728" cy="594360"/>
          </a:xfrm>
          <a:prstGeom prst="rect">
            <a:avLst/>
          </a:prstGeom>
          <a:solidFill>
            <a:srgbClr val="E8624A"/>
          </a:solidFill>
          <a:ln w="12700">
            <a:solidFill>
              <a:srgbClr val="E8624A"/>
            </a:solidFill>
            <a:prstDash val="solid"/>
          </a:ln>
        </p:spPr>
        <p:txBody>
          <a:bodyPr/>
          <a:lstStyle/>
          <a:p>
            <a:endParaRPr lang="en-US"/>
          </a:p>
        </p:txBody>
      </p:sp>
      <p:sp>
        <p:nvSpPr>
          <p:cNvPr id="4" name="Shape 2"/>
          <p:cNvSpPr/>
          <p:nvPr/>
        </p:nvSpPr>
        <p:spPr>
          <a:xfrm>
            <a:off x="0" y="4887468"/>
            <a:ext cx="9144000" cy="256032"/>
          </a:xfrm>
          <a:prstGeom prst="rect">
            <a:avLst/>
          </a:prstGeom>
          <a:solidFill>
            <a:srgbClr val="1B2A4A"/>
          </a:solidFill>
          <a:ln w="12700">
            <a:solidFill>
              <a:srgbClr val="1B2A4A"/>
            </a:solidFill>
            <a:prstDash val="solid"/>
          </a:ln>
        </p:spPr>
        <p:txBody>
          <a:bodyPr/>
          <a:lstStyle/>
          <a:p>
            <a:endParaRPr lang="en-US"/>
          </a:p>
        </p:txBody>
      </p:sp>
      <p:sp>
        <p:nvSpPr>
          <p:cNvPr id="5" name="Shape 3"/>
          <p:cNvSpPr/>
          <p:nvPr/>
        </p:nvSpPr>
        <p:spPr>
          <a:xfrm>
            <a:off x="0" y="4887468"/>
            <a:ext cx="109728" cy="256032"/>
          </a:xfrm>
          <a:prstGeom prst="rect">
            <a:avLst/>
          </a:prstGeom>
          <a:solidFill>
            <a:srgbClr val="E8624A"/>
          </a:solidFill>
          <a:ln w="12700">
            <a:solidFill>
              <a:srgbClr val="E8624A"/>
            </a:solidFill>
            <a:prstDash val="solid"/>
          </a:ln>
        </p:spPr>
        <p:txBody>
          <a:bodyPr/>
          <a:lstStyle/>
          <a:p>
            <a:endParaRPr lang="en-US"/>
          </a:p>
        </p:txBody>
      </p:sp>
      <p:sp>
        <p:nvSpPr>
          <p:cNvPr id="6" name="Text 4"/>
          <p:cNvSpPr/>
          <p:nvPr/>
        </p:nvSpPr>
        <p:spPr>
          <a:xfrm>
            <a:off x="228600" y="4887468"/>
            <a:ext cx="7315200" cy="256032"/>
          </a:xfrm>
          <a:prstGeom prst="rect">
            <a:avLst/>
          </a:prstGeom>
          <a:noFill/>
          <a:ln/>
        </p:spPr>
        <p:txBody>
          <a:bodyPr wrap="square" lIns="0" tIns="0" rIns="0" bIns="0" rtlCol="0" anchor="ctr"/>
          <a:lstStyle/>
          <a:p>
            <a:pPr marL="0" indent="0">
              <a:buNone/>
            </a:pPr>
            <a:endParaRPr lang="en-US" sz="800" dirty="0"/>
          </a:p>
        </p:txBody>
      </p:sp>
      <p:sp>
        <p:nvSpPr>
          <p:cNvPr id="7" name="Text 5"/>
          <p:cNvSpPr/>
          <p:nvPr/>
        </p:nvSpPr>
        <p:spPr>
          <a:xfrm>
            <a:off x="274320" y="0"/>
            <a:ext cx="8229600" cy="594360"/>
          </a:xfrm>
          <a:prstGeom prst="rect">
            <a:avLst/>
          </a:prstGeom>
          <a:noFill/>
          <a:ln/>
        </p:spPr>
        <p:txBody>
          <a:bodyPr wrap="square" lIns="0" tIns="0" rIns="0" bIns="0" rtlCol="0" anchor="ctr"/>
          <a:lstStyle/>
          <a:p>
            <a:pPr marL="0" indent="0">
              <a:buNone/>
            </a:pPr>
            <a:r>
              <a:rPr lang="en-US" sz="1800" b="1" dirty="0">
                <a:solidFill>
                  <a:srgbClr val="FFFFFF"/>
                </a:solidFill>
                <a:latin typeface="Calibri" pitchFamily="34" charset="0"/>
                <a:ea typeface="Calibri" pitchFamily="34" charset="-122"/>
                <a:cs typeface="Calibri" pitchFamily="34" charset="-120"/>
              </a:rPr>
              <a:t>Key Variable Value Distribution</a:t>
            </a:r>
            <a:endParaRPr lang="en-US" sz="1800" dirty="0"/>
          </a:p>
        </p:txBody>
      </p:sp>
      <p:sp>
        <p:nvSpPr>
          <p:cNvPr id="9" name="Text 7"/>
          <p:cNvSpPr/>
          <p:nvPr/>
        </p:nvSpPr>
        <p:spPr>
          <a:xfrm>
            <a:off x="54864" y="1239412"/>
            <a:ext cx="4114800" cy="2011680"/>
          </a:xfrm>
          <a:prstGeom prst="rect">
            <a:avLst/>
          </a:prstGeom>
          <a:noFill/>
          <a:ln/>
        </p:spPr>
        <p:txBody>
          <a:bodyPr wrap="square" lIns="0" tIns="0" rIns="0" bIns="0" rtlCol="0" anchor="ctr"/>
          <a:lstStyle/>
          <a:p>
            <a:pPr marL="0" indent="0">
              <a:buNone/>
            </a:pPr>
            <a:endParaRPr lang="en-US" sz="1250" dirty="0"/>
          </a:p>
        </p:txBody>
      </p:sp>
      <p:sp>
        <p:nvSpPr>
          <p:cNvPr id="10" name="Shape 8"/>
          <p:cNvSpPr/>
          <p:nvPr/>
        </p:nvSpPr>
        <p:spPr>
          <a:xfrm>
            <a:off x="951874" y="665001"/>
            <a:ext cx="7225035" cy="4038275"/>
          </a:xfrm>
          <a:prstGeom prst="rect">
            <a:avLst/>
          </a:prstGeom>
          <a:solidFill>
            <a:srgbClr val="F5F5F5"/>
          </a:solidFill>
          <a:ln w="12700">
            <a:solidFill>
              <a:srgbClr val="DDDDDD"/>
            </a:solidFill>
            <a:prstDash val="solid"/>
          </a:ln>
        </p:spPr>
        <p:txBody>
          <a:bodyPr/>
          <a:lstStyle/>
          <a:p>
            <a:endParaRPr lang="en-US"/>
          </a:p>
        </p:txBody>
      </p:sp>
      <p:sp>
        <p:nvSpPr>
          <p:cNvPr id="11" name="Text 9"/>
          <p:cNvSpPr/>
          <p:nvPr/>
        </p:nvSpPr>
        <p:spPr>
          <a:xfrm>
            <a:off x="4709160" y="777240"/>
            <a:ext cx="4114800" cy="4229100"/>
          </a:xfrm>
          <a:prstGeom prst="rect">
            <a:avLst/>
          </a:prstGeom>
          <a:noFill/>
          <a:ln/>
        </p:spPr>
        <p:txBody>
          <a:bodyPr wrap="square" lIns="0" tIns="0" rIns="0" bIns="0" rtlCol="0" anchor="ctr"/>
          <a:lstStyle/>
          <a:p>
            <a:pPr marL="0" indent="0" algn="ctr">
              <a:buNone/>
            </a:pPr>
            <a:r>
              <a:rPr lang="en-US" sz="1400" dirty="0">
                <a:solidFill>
                  <a:srgbClr val="DDDDDD"/>
                </a:solidFill>
                <a:latin typeface="Calibri" pitchFamily="34" charset="0"/>
                <a:ea typeface="Calibri" pitchFamily="34" charset="-122"/>
                <a:cs typeface="Calibri" pitchFamily="34" charset="-120"/>
              </a:rPr>
              <a:t>[ Image ]</a:t>
            </a:r>
            <a:endParaRPr lang="en-US" sz="1400" dirty="0"/>
          </a:p>
        </p:txBody>
      </p:sp>
      <p:pic>
        <p:nvPicPr>
          <p:cNvPr id="13" name="Picture 12">
            <a:extLst>
              <a:ext uri="{FF2B5EF4-FFF2-40B4-BE49-F238E27FC236}">
                <a16:creationId xmlns:a16="http://schemas.microsoft.com/office/drawing/2014/main" id="{47EFBF15-4974-EEF7-053F-2ECDAD9D7232}"/>
              </a:ext>
            </a:extLst>
          </p:cNvPr>
          <p:cNvPicPr>
            <a:picLocks noChangeAspect="1"/>
          </p:cNvPicPr>
          <p:nvPr/>
        </p:nvPicPr>
        <p:blipFill>
          <a:blip r:embed="rId3"/>
          <a:stretch>
            <a:fillRect/>
          </a:stretch>
        </p:blipFill>
        <p:spPr>
          <a:xfrm>
            <a:off x="1067524" y="785474"/>
            <a:ext cx="7008951" cy="3784464"/>
          </a:xfrm>
          <a:prstGeom prst="rect">
            <a:avLst/>
          </a:prstGeom>
        </p:spPr>
      </p:pic>
      <p:sp>
        <p:nvSpPr>
          <p:cNvPr id="8" name="Text 6"/>
          <p:cNvSpPr/>
          <p:nvPr/>
        </p:nvSpPr>
        <p:spPr>
          <a:xfrm>
            <a:off x="54864" y="1037044"/>
            <a:ext cx="4114800" cy="411480"/>
          </a:xfrm>
          <a:prstGeom prst="rect">
            <a:avLst/>
          </a:prstGeom>
          <a:noFill/>
          <a:ln/>
        </p:spPr>
        <p:txBody>
          <a:bodyPr wrap="square" lIns="0" tIns="0" rIns="0" bIns="0" rtlCol="0" anchor="ctr"/>
          <a:lstStyle/>
          <a:p>
            <a:pPr marL="0" indent="0">
              <a:buNone/>
            </a:pP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94360"/>
          </a:xfrm>
          <a:prstGeom prst="rect">
            <a:avLst/>
          </a:prstGeom>
          <a:solidFill>
            <a:srgbClr val="1B2A4A"/>
          </a:solidFill>
          <a:ln w="12700">
            <a:solidFill>
              <a:srgbClr val="1B2A4A"/>
            </a:solidFill>
            <a:prstDash val="solid"/>
          </a:ln>
        </p:spPr>
        <p:txBody>
          <a:bodyPr/>
          <a:lstStyle/>
          <a:p>
            <a:endParaRPr lang="en-US"/>
          </a:p>
        </p:txBody>
      </p:sp>
      <p:sp>
        <p:nvSpPr>
          <p:cNvPr id="3" name="Shape 1"/>
          <p:cNvSpPr/>
          <p:nvPr/>
        </p:nvSpPr>
        <p:spPr>
          <a:xfrm>
            <a:off x="0" y="0"/>
            <a:ext cx="109728" cy="594360"/>
          </a:xfrm>
          <a:prstGeom prst="rect">
            <a:avLst/>
          </a:prstGeom>
          <a:solidFill>
            <a:srgbClr val="E8624A"/>
          </a:solidFill>
          <a:ln w="12700">
            <a:solidFill>
              <a:srgbClr val="E8624A"/>
            </a:solidFill>
            <a:prstDash val="solid"/>
          </a:ln>
        </p:spPr>
        <p:txBody>
          <a:bodyPr/>
          <a:lstStyle/>
          <a:p>
            <a:endParaRPr lang="en-US"/>
          </a:p>
        </p:txBody>
      </p:sp>
      <p:sp>
        <p:nvSpPr>
          <p:cNvPr id="4" name="Shape 2"/>
          <p:cNvSpPr/>
          <p:nvPr/>
        </p:nvSpPr>
        <p:spPr>
          <a:xfrm>
            <a:off x="0" y="4887468"/>
            <a:ext cx="9144000" cy="256032"/>
          </a:xfrm>
          <a:prstGeom prst="rect">
            <a:avLst/>
          </a:prstGeom>
          <a:solidFill>
            <a:srgbClr val="1B2A4A"/>
          </a:solidFill>
          <a:ln w="12700">
            <a:solidFill>
              <a:srgbClr val="1B2A4A"/>
            </a:solidFill>
            <a:prstDash val="solid"/>
          </a:ln>
        </p:spPr>
        <p:txBody>
          <a:bodyPr/>
          <a:lstStyle/>
          <a:p>
            <a:endParaRPr lang="en-US"/>
          </a:p>
        </p:txBody>
      </p:sp>
      <p:sp>
        <p:nvSpPr>
          <p:cNvPr id="5" name="Shape 3"/>
          <p:cNvSpPr/>
          <p:nvPr/>
        </p:nvSpPr>
        <p:spPr>
          <a:xfrm>
            <a:off x="0" y="4887468"/>
            <a:ext cx="109728" cy="256032"/>
          </a:xfrm>
          <a:prstGeom prst="rect">
            <a:avLst/>
          </a:prstGeom>
          <a:solidFill>
            <a:srgbClr val="E8624A"/>
          </a:solidFill>
          <a:ln w="12700">
            <a:solidFill>
              <a:srgbClr val="E8624A"/>
            </a:solidFill>
            <a:prstDash val="solid"/>
          </a:ln>
        </p:spPr>
        <p:txBody>
          <a:bodyPr/>
          <a:lstStyle/>
          <a:p>
            <a:endParaRPr lang="en-US"/>
          </a:p>
        </p:txBody>
      </p:sp>
      <p:sp>
        <p:nvSpPr>
          <p:cNvPr id="6" name="Text 4"/>
          <p:cNvSpPr/>
          <p:nvPr/>
        </p:nvSpPr>
        <p:spPr>
          <a:xfrm>
            <a:off x="228600" y="4887468"/>
            <a:ext cx="7315200" cy="256032"/>
          </a:xfrm>
          <a:prstGeom prst="rect">
            <a:avLst/>
          </a:prstGeom>
          <a:noFill/>
          <a:ln/>
        </p:spPr>
        <p:txBody>
          <a:bodyPr wrap="square" lIns="0" tIns="0" rIns="0" bIns="0" rtlCol="0" anchor="ctr"/>
          <a:lstStyle/>
          <a:p>
            <a:pPr marL="0" indent="0">
              <a:buNone/>
            </a:pPr>
            <a:endParaRPr lang="en-US" sz="800" dirty="0"/>
          </a:p>
        </p:txBody>
      </p:sp>
      <p:sp>
        <p:nvSpPr>
          <p:cNvPr id="7" name="Text 5"/>
          <p:cNvSpPr/>
          <p:nvPr/>
        </p:nvSpPr>
        <p:spPr>
          <a:xfrm>
            <a:off x="274320" y="0"/>
            <a:ext cx="8229600" cy="594360"/>
          </a:xfrm>
          <a:prstGeom prst="rect">
            <a:avLst/>
          </a:prstGeom>
          <a:noFill/>
          <a:ln/>
        </p:spPr>
        <p:txBody>
          <a:bodyPr wrap="square" lIns="0" tIns="0" rIns="0" bIns="0" rtlCol="0" anchor="ctr"/>
          <a:lstStyle/>
          <a:p>
            <a:pPr marL="0" indent="0">
              <a:buNone/>
            </a:pPr>
            <a:r>
              <a:rPr lang="en-US" sz="1800" b="1" dirty="0">
                <a:solidFill>
                  <a:srgbClr val="FFFFFF"/>
                </a:solidFill>
                <a:latin typeface="Calibri" pitchFamily="34" charset="0"/>
                <a:cs typeface="Calibri" pitchFamily="34" charset="-120"/>
              </a:rPr>
              <a:t>Boxplots</a:t>
            </a:r>
            <a:endParaRPr lang="en-US" sz="1800" dirty="0"/>
          </a:p>
        </p:txBody>
      </p:sp>
      <p:sp>
        <p:nvSpPr>
          <p:cNvPr id="8" name="Shape 6"/>
          <p:cNvSpPr/>
          <p:nvPr/>
        </p:nvSpPr>
        <p:spPr>
          <a:xfrm>
            <a:off x="674555" y="655048"/>
            <a:ext cx="7737924" cy="4095260"/>
          </a:xfrm>
          <a:prstGeom prst="rect">
            <a:avLst/>
          </a:prstGeom>
          <a:solidFill>
            <a:srgbClr val="F5F5F5"/>
          </a:solidFill>
          <a:ln w="12700">
            <a:solidFill>
              <a:srgbClr val="DDDDDD"/>
            </a:solidFill>
            <a:prstDash val="solid"/>
          </a:ln>
        </p:spPr>
        <p:txBody>
          <a:bodyPr/>
          <a:lstStyle/>
          <a:p>
            <a:endParaRPr lang="en-US"/>
          </a:p>
        </p:txBody>
      </p:sp>
      <p:sp>
        <p:nvSpPr>
          <p:cNvPr id="9" name="Text 7"/>
          <p:cNvSpPr/>
          <p:nvPr/>
        </p:nvSpPr>
        <p:spPr>
          <a:xfrm>
            <a:off x="320040" y="777240"/>
            <a:ext cx="4114800" cy="4229100"/>
          </a:xfrm>
          <a:prstGeom prst="rect">
            <a:avLst/>
          </a:prstGeom>
          <a:noFill/>
          <a:ln/>
        </p:spPr>
        <p:txBody>
          <a:bodyPr wrap="square" lIns="0" tIns="0" rIns="0" bIns="0" rtlCol="0" anchor="ctr"/>
          <a:lstStyle/>
          <a:p>
            <a:pPr marL="0" indent="0" algn="ctr">
              <a:buNone/>
            </a:pPr>
            <a:r>
              <a:rPr lang="en-US" sz="1400" dirty="0">
                <a:solidFill>
                  <a:srgbClr val="DDDDDD"/>
                </a:solidFill>
                <a:latin typeface="Calibri" pitchFamily="34" charset="0"/>
                <a:ea typeface="Calibri" pitchFamily="34" charset="-122"/>
                <a:cs typeface="Calibri" pitchFamily="34" charset="-120"/>
              </a:rPr>
              <a:t>[ Image ]</a:t>
            </a:r>
            <a:endParaRPr lang="en-US" sz="1400" dirty="0"/>
          </a:p>
        </p:txBody>
      </p:sp>
      <p:pic>
        <p:nvPicPr>
          <p:cNvPr id="13" name="Picture 12">
            <a:extLst>
              <a:ext uri="{FF2B5EF4-FFF2-40B4-BE49-F238E27FC236}">
                <a16:creationId xmlns:a16="http://schemas.microsoft.com/office/drawing/2014/main" id="{3608AA1B-93A6-9036-51C8-766538325346}"/>
              </a:ext>
            </a:extLst>
          </p:cNvPr>
          <p:cNvPicPr>
            <a:picLocks noChangeAspect="1"/>
          </p:cNvPicPr>
          <p:nvPr/>
        </p:nvPicPr>
        <p:blipFill>
          <a:blip r:embed="rId3"/>
          <a:stretch>
            <a:fillRect/>
          </a:stretch>
        </p:blipFill>
        <p:spPr>
          <a:xfrm>
            <a:off x="986351" y="716552"/>
            <a:ext cx="7151807" cy="3929703"/>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94360"/>
          </a:xfrm>
          <a:prstGeom prst="rect">
            <a:avLst/>
          </a:prstGeom>
          <a:solidFill>
            <a:srgbClr val="1B2A4A"/>
          </a:solidFill>
          <a:ln w="12700">
            <a:solidFill>
              <a:srgbClr val="1B2A4A"/>
            </a:solidFill>
            <a:prstDash val="solid"/>
          </a:ln>
        </p:spPr>
        <p:txBody>
          <a:bodyPr/>
          <a:lstStyle/>
          <a:p>
            <a:endParaRPr lang="en-US"/>
          </a:p>
        </p:txBody>
      </p:sp>
      <p:sp>
        <p:nvSpPr>
          <p:cNvPr id="3" name="Shape 1"/>
          <p:cNvSpPr/>
          <p:nvPr/>
        </p:nvSpPr>
        <p:spPr>
          <a:xfrm>
            <a:off x="0" y="0"/>
            <a:ext cx="109728" cy="594360"/>
          </a:xfrm>
          <a:prstGeom prst="rect">
            <a:avLst/>
          </a:prstGeom>
          <a:solidFill>
            <a:srgbClr val="E8624A"/>
          </a:solidFill>
          <a:ln w="12700">
            <a:solidFill>
              <a:srgbClr val="E8624A"/>
            </a:solidFill>
            <a:prstDash val="solid"/>
          </a:ln>
        </p:spPr>
        <p:txBody>
          <a:bodyPr/>
          <a:lstStyle/>
          <a:p>
            <a:endParaRPr lang="en-US"/>
          </a:p>
        </p:txBody>
      </p:sp>
      <p:sp>
        <p:nvSpPr>
          <p:cNvPr id="4" name="Shape 2"/>
          <p:cNvSpPr/>
          <p:nvPr/>
        </p:nvSpPr>
        <p:spPr>
          <a:xfrm>
            <a:off x="0" y="4887468"/>
            <a:ext cx="9144000" cy="256032"/>
          </a:xfrm>
          <a:prstGeom prst="rect">
            <a:avLst/>
          </a:prstGeom>
          <a:solidFill>
            <a:srgbClr val="1B2A4A"/>
          </a:solidFill>
          <a:ln w="12700">
            <a:solidFill>
              <a:srgbClr val="1B2A4A"/>
            </a:solidFill>
            <a:prstDash val="solid"/>
          </a:ln>
        </p:spPr>
        <p:txBody>
          <a:bodyPr/>
          <a:lstStyle/>
          <a:p>
            <a:endParaRPr lang="en-US"/>
          </a:p>
        </p:txBody>
      </p:sp>
      <p:sp>
        <p:nvSpPr>
          <p:cNvPr id="5" name="Shape 3"/>
          <p:cNvSpPr/>
          <p:nvPr/>
        </p:nvSpPr>
        <p:spPr>
          <a:xfrm>
            <a:off x="0" y="4887468"/>
            <a:ext cx="109728" cy="256032"/>
          </a:xfrm>
          <a:prstGeom prst="rect">
            <a:avLst/>
          </a:prstGeom>
          <a:solidFill>
            <a:srgbClr val="E8624A"/>
          </a:solidFill>
          <a:ln w="12700">
            <a:solidFill>
              <a:srgbClr val="E8624A"/>
            </a:solidFill>
            <a:prstDash val="solid"/>
          </a:ln>
        </p:spPr>
        <p:txBody>
          <a:bodyPr/>
          <a:lstStyle/>
          <a:p>
            <a:endParaRPr lang="en-US"/>
          </a:p>
        </p:txBody>
      </p:sp>
      <p:sp>
        <p:nvSpPr>
          <p:cNvPr id="6" name="Text 4"/>
          <p:cNvSpPr/>
          <p:nvPr/>
        </p:nvSpPr>
        <p:spPr>
          <a:xfrm>
            <a:off x="228600" y="4887468"/>
            <a:ext cx="7315200" cy="256032"/>
          </a:xfrm>
          <a:prstGeom prst="rect">
            <a:avLst/>
          </a:prstGeom>
          <a:noFill/>
          <a:ln/>
        </p:spPr>
        <p:txBody>
          <a:bodyPr wrap="square" lIns="0" tIns="0" rIns="0" bIns="0" rtlCol="0" anchor="ctr"/>
          <a:lstStyle/>
          <a:p>
            <a:pPr marL="0" indent="0">
              <a:buNone/>
            </a:pPr>
            <a:endParaRPr lang="en-US" sz="800" dirty="0"/>
          </a:p>
        </p:txBody>
      </p:sp>
      <p:sp>
        <p:nvSpPr>
          <p:cNvPr id="7" name="Shape 5"/>
          <p:cNvSpPr/>
          <p:nvPr/>
        </p:nvSpPr>
        <p:spPr>
          <a:xfrm>
            <a:off x="0" y="594360"/>
            <a:ext cx="9144000" cy="4293108"/>
          </a:xfrm>
          <a:prstGeom prst="rect">
            <a:avLst/>
          </a:prstGeom>
          <a:solidFill>
            <a:srgbClr val="F5F5F5"/>
          </a:solidFill>
          <a:ln w="12700">
            <a:solidFill>
              <a:srgbClr val="DDDDDD"/>
            </a:solidFill>
            <a:prstDash val="solid"/>
          </a:ln>
        </p:spPr>
        <p:txBody>
          <a:bodyPr/>
          <a:lstStyle/>
          <a:p>
            <a:endParaRPr lang="en-US" dirty="0"/>
          </a:p>
        </p:txBody>
      </p:sp>
      <p:sp>
        <p:nvSpPr>
          <p:cNvPr id="8" name="Text 6"/>
          <p:cNvSpPr/>
          <p:nvPr/>
        </p:nvSpPr>
        <p:spPr>
          <a:xfrm>
            <a:off x="0" y="594360"/>
            <a:ext cx="9144000" cy="4293108"/>
          </a:xfrm>
          <a:prstGeom prst="rect">
            <a:avLst/>
          </a:prstGeom>
          <a:noFill/>
          <a:ln/>
        </p:spPr>
        <p:txBody>
          <a:bodyPr wrap="square" lIns="0" tIns="0" rIns="0" bIns="0" rtlCol="0" anchor="ctr"/>
          <a:lstStyle/>
          <a:p>
            <a:pPr marL="0" indent="0" algn="ctr">
              <a:buNone/>
            </a:pPr>
            <a:r>
              <a:rPr lang="en-US" sz="1600" dirty="0">
                <a:solidFill>
                  <a:srgbClr val="DDDDDD"/>
                </a:solidFill>
                <a:latin typeface="Calibri" pitchFamily="34" charset="0"/>
                <a:ea typeface="Calibri" pitchFamily="34" charset="-122"/>
                <a:cs typeface="Calibri" pitchFamily="34" charset="-120"/>
              </a:rPr>
              <a:t>[ Full-width Image ]</a:t>
            </a:r>
            <a:endParaRPr lang="en-US" sz="1600" dirty="0"/>
          </a:p>
        </p:txBody>
      </p:sp>
      <p:sp>
        <p:nvSpPr>
          <p:cNvPr id="10" name="Text 8"/>
          <p:cNvSpPr/>
          <p:nvPr/>
        </p:nvSpPr>
        <p:spPr>
          <a:xfrm>
            <a:off x="274320" y="0"/>
            <a:ext cx="8229600" cy="594360"/>
          </a:xfrm>
          <a:prstGeom prst="rect">
            <a:avLst/>
          </a:prstGeom>
          <a:noFill/>
          <a:ln/>
        </p:spPr>
        <p:txBody>
          <a:bodyPr wrap="square" lIns="0" tIns="0" rIns="0" bIns="0" rtlCol="0" anchor="ctr"/>
          <a:lstStyle/>
          <a:p>
            <a:pPr marL="0" indent="0">
              <a:buNone/>
            </a:pPr>
            <a:r>
              <a:rPr lang="en-US" b="1" dirty="0">
                <a:solidFill>
                  <a:srgbClr val="FFFFFF"/>
                </a:solidFill>
                <a:latin typeface="Calibri" pitchFamily="34" charset="0"/>
                <a:cs typeface="Calibri" pitchFamily="34" charset="-120"/>
              </a:rPr>
              <a:t>Correlations</a:t>
            </a:r>
          </a:p>
        </p:txBody>
      </p:sp>
      <p:pic>
        <p:nvPicPr>
          <p:cNvPr id="13" name="Picture 12">
            <a:extLst>
              <a:ext uri="{FF2B5EF4-FFF2-40B4-BE49-F238E27FC236}">
                <a16:creationId xmlns:a16="http://schemas.microsoft.com/office/drawing/2014/main" id="{3303437C-EB32-B1CB-70B0-A05516D1817F}"/>
              </a:ext>
            </a:extLst>
          </p:cNvPr>
          <p:cNvPicPr>
            <a:picLocks noChangeAspect="1"/>
          </p:cNvPicPr>
          <p:nvPr/>
        </p:nvPicPr>
        <p:blipFill>
          <a:blip r:embed="rId3"/>
          <a:stretch>
            <a:fillRect/>
          </a:stretch>
        </p:blipFill>
        <p:spPr>
          <a:xfrm>
            <a:off x="274319" y="682225"/>
            <a:ext cx="5371961" cy="4039677"/>
          </a:xfrm>
          <a:prstGeom prst="rect">
            <a:avLst/>
          </a:prstGeom>
        </p:spPr>
      </p:pic>
      <p:pic>
        <p:nvPicPr>
          <p:cNvPr id="15" name="Picture 14">
            <a:extLst>
              <a:ext uri="{FF2B5EF4-FFF2-40B4-BE49-F238E27FC236}">
                <a16:creationId xmlns:a16="http://schemas.microsoft.com/office/drawing/2014/main" id="{80D8F584-AE19-E34E-BC33-4CF490435D81}"/>
              </a:ext>
            </a:extLst>
          </p:cNvPr>
          <p:cNvPicPr>
            <a:picLocks noChangeAspect="1"/>
          </p:cNvPicPr>
          <p:nvPr/>
        </p:nvPicPr>
        <p:blipFill>
          <a:blip r:embed="rId4"/>
          <a:stretch>
            <a:fillRect/>
          </a:stretch>
        </p:blipFill>
        <p:spPr>
          <a:xfrm>
            <a:off x="5741855" y="824460"/>
            <a:ext cx="3306570" cy="2072494"/>
          </a:xfrm>
          <a:prstGeom prst="rect">
            <a:avLst/>
          </a:prstGeom>
        </p:spPr>
      </p:pic>
      <p:sp>
        <p:nvSpPr>
          <p:cNvPr id="16" name="Text 9">
            <a:extLst>
              <a:ext uri="{FF2B5EF4-FFF2-40B4-BE49-F238E27FC236}">
                <a16:creationId xmlns:a16="http://schemas.microsoft.com/office/drawing/2014/main" id="{C299A404-805D-64DB-93F1-3847F4C89AC6}"/>
              </a:ext>
            </a:extLst>
          </p:cNvPr>
          <p:cNvSpPr/>
          <p:nvPr/>
        </p:nvSpPr>
        <p:spPr>
          <a:xfrm>
            <a:off x="5741854" y="2990538"/>
            <a:ext cx="3252243" cy="1731364"/>
          </a:xfrm>
          <a:prstGeom prst="rect">
            <a:avLst/>
          </a:prstGeom>
          <a:noFill/>
          <a:ln/>
        </p:spPr>
        <p:txBody>
          <a:bodyPr wrap="square" lIns="0" tIns="0" rIns="0" bIns="0" rtlCol="0" anchor="ctr"/>
          <a:lstStyle/>
          <a:p>
            <a:pPr marL="0" indent="0">
              <a:buNone/>
            </a:pPr>
            <a:r>
              <a:rPr lang="en-US" sz="1250" dirty="0">
                <a:solidFill>
                  <a:srgbClr val="444444"/>
                </a:solidFill>
                <a:latin typeface="Calibri" pitchFamily="34" charset="0"/>
                <a:ea typeface="Calibri" pitchFamily="34" charset="-122"/>
                <a:cs typeface="Calibri" pitchFamily="34" charset="-120"/>
              </a:rPr>
              <a:t>Red Boxes = Positive Correlation</a:t>
            </a:r>
          </a:p>
          <a:p>
            <a:pPr marL="0" indent="0">
              <a:buNone/>
            </a:pPr>
            <a:r>
              <a:rPr lang="en-US" sz="1250" dirty="0">
                <a:solidFill>
                  <a:srgbClr val="444444"/>
                </a:solidFill>
                <a:latin typeface="Calibri" pitchFamily="34" charset="0"/>
                <a:ea typeface="Calibri" pitchFamily="34" charset="-122"/>
                <a:cs typeface="Calibri" pitchFamily="34" charset="-120"/>
              </a:rPr>
              <a:t>Ex. High stress levels correlate with injury</a:t>
            </a:r>
          </a:p>
          <a:p>
            <a:pPr marL="0" indent="0">
              <a:buNone/>
            </a:pPr>
            <a:endParaRPr lang="en-US" sz="1250" dirty="0">
              <a:solidFill>
                <a:srgbClr val="444444"/>
              </a:solidFill>
              <a:latin typeface="Calibri" pitchFamily="34" charset="0"/>
              <a:ea typeface="Calibri" pitchFamily="34" charset="-122"/>
              <a:cs typeface="Calibri" pitchFamily="34" charset="-120"/>
            </a:endParaRPr>
          </a:p>
          <a:p>
            <a:pPr marL="0" indent="0">
              <a:buNone/>
            </a:pPr>
            <a:r>
              <a:rPr lang="en-US" sz="1250" dirty="0">
                <a:solidFill>
                  <a:srgbClr val="444444"/>
                </a:solidFill>
                <a:latin typeface="Calibri" pitchFamily="34" charset="0"/>
                <a:cs typeface="Calibri" pitchFamily="34" charset="-120"/>
              </a:rPr>
              <a:t>Blue Boxes = Negative Correlation</a:t>
            </a:r>
          </a:p>
          <a:p>
            <a:pPr marL="0" indent="0">
              <a:buNone/>
            </a:pPr>
            <a:r>
              <a:rPr lang="en-US" sz="1250" dirty="0">
                <a:solidFill>
                  <a:srgbClr val="444444"/>
                </a:solidFill>
                <a:latin typeface="Calibri" pitchFamily="34" charset="0"/>
                <a:cs typeface="Calibri" pitchFamily="34" charset="-120"/>
              </a:rPr>
              <a:t>Ex. Poor nutrition leads to injury</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94360"/>
          </a:xfrm>
          <a:prstGeom prst="rect">
            <a:avLst/>
          </a:prstGeom>
          <a:solidFill>
            <a:srgbClr val="1B2A4A"/>
          </a:solidFill>
          <a:ln w="12700">
            <a:solidFill>
              <a:srgbClr val="1B2A4A"/>
            </a:solidFill>
            <a:prstDash val="solid"/>
          </a:ln>
        </p:spPr>
        <p:txBody>
          <a:bodyPr/>
          <a:lstStyle/>
          <a:p>
            <a:endParaRPr lang="en-US"/>
          </a:p>
        </p:txBody>
      </p:sp>
      <p:sp>
        <p:nvSpPr>
          <p:cNvPr id="3" name="Shape 1"/>
          <p:cNvSpPr/>
          <p:nvPr/>
        </p:nvSpPr>
        <p:spPr>
          <a:xfrm>
            <a:off x="0" y="0"/>
            <a:ext cx="109728" cy="594360"/>
          </a:xfrm>
          <a:prstGeom prst="rect">
            <a:avLst/>
          </a:prstGeom>
          <a:solidFill>
            <a:srgbClr val="E8624A"/>
          </a:solidFill>
          <a:ln w="12700">
            <a:solidFill>
              <a:srgbClr val="E8624A"/>
            </a:solidFill>
            <a:prstDash val="solid"/>
          </a:ln>
        </p:spPr>
        <p:txBody>
          <a:bodyPr/>
          <a:lstStyle/>
          <a:p>
            <a:endParaRPr lang="en-US"/>
          </a:p>
        </p:txBody>
      </p:sp>
      <p:sp>
        <p:nvSpPr>
          <p:cNvPr id="4" name="Shape 2"/>
          <p:cNvSpPr/>
          <p:nvPr/>
        </p:nvSpPr>
        <p:spPr>
          <a:xfrm>
            <a:off x="0" y="4887468"/>
            <a:ext cx="9144000" cy="256032"/>
          </a:xfrm>
          <a:prstGeom prst="rect">
            <a:avLst/>
          </a:prstGeom>
          <a:solidFill>
            <a:srgbClr val="1B2A4A"/>
          </a:solidFill>
          <a:ln w="12700">
            <a:solidFill>
              <a:srgbClr val="1B2A4A"/>
            </a:solidFill>
            <a:prstDash val="solid"/>
          </a:ln>
        </p:spPr>
        <p:txBody>
          <a:bodyPr/>
          <a:lstStyle/>
          <a:p>
            <a:endParaRPr lang="en-US"/>
          </a:p>
        </p:txBody>
      </p:sp>
      <p:sp>
        <p:nvSpPr>
          <p:cNvPr id="5" name="Shape 3"/>
          <p:cNvSpPr/>
          <p:nvPr/>
        </p:nvSpPr>
        <p:spPr>
          <a:xfrm>
            <a:off x="0" y="4887468"/>
            <a:ext cx="109728" cy="256032"/>
          </a:xfrm>
          <a:prstGeom prst="rect">
            <a:avLst/>
          </a:prstGeom>
          <a:solidFill>
            <a:srgbClr val="E8624A"/>
          </a:solidFill>
          <a:ln w="12700">
            <a:solidFill>
              <a:srgbClr val="E8624A"/>
            </a:solidFill>
            <a:prstDash val="solid"/>
          </a:ln>
        </p:spPr>
        <p:txBody>
          <a:bodyPr/>
          <a:lstStyle/>
          <a:p>
            <a:endParaRPr lang="en-US"/>
          </a:p>
        </p:txBody>
      </p:sp>
      <p:sp>
        <p:nvSpPr>
          <p:cNvPr id="6" name="Text 4"/>
          <p:cNvSpPr/>
          <p:nvPr/>
        </p:nvSpPr>
        <p:spPr>
          <a:xfrm>
            <a:off x="228600" y="4887468"/>
            <a:ext cx="7315200" cy="256032"/>
          </a:xfrm>
          <a:prstGeom prst="rect">
            <a:avLst/>
          </a:prstGeom>
          <a:noFill/>
          <a:ln/>
        </p:spPr>
        <p:txBody>
          <a:bodyPr wrap="square" lIns="0" tIns="0" rIns="0" bIns="0" rtlCol="0" anchor="ctr"/>
          <a:lstStyle/>
          <a:p>
            <a:pPr marL="0" indent="0">
              <a:buNone/>
            </a:pPr>
            <a:endParaRPr lang="en-US" sz="800" dirty="0"/>
          </a:p>
        </p:txBody>
      </p:sp>
      <p:sp>
        <p:nvSpPr>
          <p:cNvPr id="7" name="Text 5"/>
          <p:cNvSpPr/>
          <p:nvPr/>
        </p:nvSpPr>
        <p:spPr>
          <a:xfrm>
            <a:off x="274320" y="0"/>
            <a:ext cx="8229600" cy="594360"/>
          </a:xfrm>
          <a:prstGeom prst="rect">
            <a:avLst/>
          </a:prstGeom>
          <a:noFill/>
          <a:ln/>
        </p:spPr>
        <p:txBody>
          <a:bodyPr wrap="square" lIns="0" tIns="0" rIns="0" bIns="0" rtlCol="0" anchor="ctr"/>
          <a:lstStyle/>
          <a:p>
            <a:pPr marL="0" indent="0">
              <a:buNone/>
            </a:pPr>
            <a:r>
              <a:rPr lang="en-US" sz="1800" b="1" dirty="0">
                <a:solidFill>
                  <a:srgbClr val="FFFFFF"/>
                </a:solidFill>
                <a:latin typeface="Calibri" pitchFamily="34" charset="0"/>
                <a:ea typeface="Calibri" pitchFamily="34" charset="-122"/>
                <a:cs typeface="Calibri" pitchFamily="34" charset="-120"/>
              </a:rPr>
              <a:t>Scatterplots</a:t>
            </a:r>
            <a:endParaRPr lang="en-US" sz="1800" dirty="0"/>
          </a:p>
        </p:txBody>
      </p:sp>
      <p:sp>
        <p:nvSpPr>
          <p:cNvPr id="8" name="Text 6"/>
          <p:cNvSpPr/>
          <p:nvPr/>
        </p:nvSpPr>
        <p:spPr>
          <a:xfrm>
            <a:off x="411480" y="960120"/>
            <a:ext cx="4114800" cy="411480"/>
          </a:xfrm>
          <a:prstGeom prst="rect">
            <a:avLst/>
          </a:prstGeom>
          <a:noFill/>
          <a:ln/>
        </p:spPr>
        <p:txBody>
          <a:bodyPr wrap="square" lIns="0" tIns="0" rIns="0" bIns="0" rtlCol="0" anchor="ctr"/>
          <a:lstStyle/>
          <a:p>
            <a:pPr marL="0" indent="0">
              <a:buNone/>
            </a:pPr>
            <a:endParaRPr lang="en-US" sz="1600" dirty="0"/>
          </a:p>
        </p:txBody>
      </p:sp>
      <p:sp>
        <p:nvSpPr>
          <p:cNvPr id="10" name="Shape 8"/>
          <p:cNvSpPr/>
          <p:nvPr/>
        </p:nvSpPr>
        <p:spPr>
          <a:xfrm>
            <a:off x="487180" y="1101777"/>
            <a:ext cx="8108180" cy="3264484"/>
          </a:xfrm>
          <a:prstGeom prst="rect">
            <a:avLst/>
          </a:prstGeom>
          <a:solidFill>
            <a:srgbClr val="F5F5F5"/>
          </a:solidFill>
          <a:ln w="12700">
            <a:solidFill>
              <a:srgbClr val="DDDDDD"/>
            </a:solidFill>
            <a:prstDash val="solid"/>
          </a:ln>
        </p:spPr>
        <p:txBody>
          <a:bodyPr/>
          <a:lstStyle/>
          <a:p>
            <a:endParaRPr lang="en-US"/>
          </a:p>
        </p:txBody>
      </p:sp>
      <p:sp>
        <p:nvSpPr>
          <p:cNvPr id="11" name="Text 9"/>
          <p:cNvSpPr/>
          <p:nvPr/>
        </p:nvSpPr>
        <p:spPr>
          <a:xfrm>
            <a:off x="4709160" y="777240"/>
            <a:ext cx="4114800" cy="4229100"/>
          </a:xfrm>
          <a:prstGeom prst="rect">
            <a:avLst/>
          </a:prstGeom>
          <a:noFill/>
          <a:ln/>
        </p:spPr>
        <p:txBody>
          <a:bodyPr wrap="square" lIns="0" tIns="0" rIns="0" bIns="0" rtlCol="0" anchor="ctr"/>
          <a:lstStyle/>
          <a:p>
            <a:pPr marL="0" indent="0" algn="ctr">
              <a:buNone/>
            </a:pPr>
            <a:r>
              <a:rPr lang="en-US" sz="1400" dirty="0">
                <a:solidFill>
                  <a:srgbClr val="DDDDDD"/>
                </a:solidFill>
                <a:latin typeface="Calibri" pitchFamily="34" charset="0"/>
                <a:ea typeface="Calibri" pitchFamily="34" charset="-122"/>
                <a:cs typeface="Calibri" pitchFamily="34" charset="-120"/>
              </a:rPr>
              <a:t>[ Image ]</a:t>
            </a:r>
            <a:endParaRPr lang="en-US" sz="1400" dirty="0"/>
          </a:p>
        </p:txBody>
      </p:sp>
      <p:pic>
        <p:nvPicPr>
          <p:cNvPr id="13" name="Picture 12">
            <a:extLst>
              <a:ext uri="{FF2B5EF4-FFF2-40B4-BE49-F238E27FC236}">
                <a16:creationId xmlns:a16="http://schemas.microsoft.com/office/drawing/2014/main" id="{ACD3B1FB-C8DB-D2AD-7002-80DBDCA6A189}"/>
              </a:ext>
            </a:extLst>
          </p:cNvPr>
          <p:cNvPicPr>
            <a:picLocks noChangeAspect="1"/>
          </p:cNvPicPr>
          <p:nvPr/>
        </p:nvPicPr>
        <p:blipFill>
          <a:blip r:embed="rId3"/>
          <a:stretch>
            <a:fillRect/>
          </a:stretch>
        </p:blipFill>
        <p:spPr>
          <a:xfrm>
            <a:off x="640080" y="1251685"/>
            <a:ext cx="7772400" cy="2931695"/>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7BBA3B39-8DDD-51C0-6F13-7B6CAE7FFE79}"/>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52F69680-F5BA-0532-F97B-CEC326A8B451}"/>
              </a:ext>
            </a:extLst>
          </p:cNvPr>
          <p:cNvSpPr/>
          <p:nvPr/>
        </p:nvSpPr>
        <p:spPr>
          <a:xfrm>
            <a:off x="0" y="0"/>
            <a:ext cx="9144000" cy="594360"/>
          </a:xfrm>
          <a:prstGeom prst="rect">
            <a:avLst/>
          </a:prstGeom>
          <a:solidFill>
            <a:srgbClr val="1B2A4A"/>
          </a:solidFill>
          <a:ln w="12700">
            <a:solidFill>
              <a:srgbClr val="1B2A4A"/>
            </a:solidFill>
            <a:prstDash val="solid"/>
          </a:ln>
        </p:spPr>
        <p:txBody>
          <a:bodyPr/>
          <a:lstStyle/>
          <a:p>
            <a:endParaRPr lang="en-US" dirty="0"/>
          </a:p>
        </p:txBody>
      </p:sp>
      <p:sp>
        <p:nvSpPr>
          <p:cNvPr id="3" name="Shape 1">
            <a:extLst>
              <a:ext uri="{FF2B5EF4-FFF2-40B4-BE49-F238E27FC236}">
                <a16:creationId xmlns:a16="http://schemas.microsoft.com/office/drawing/2014/main" id="{64DE1F72-938D-DC13-2CCB-B6EFB55D015C}"/>
              </a:ext>
            </a:extLst>
          </p:cNvPr>
          <p:cNvSpPr/>
          <p:nvPr/>
        </p:nvSpPr>
        <p:spPr>
          <a:xfrm>
            <a:off x="0" y="0"/>
            <a:ext cx="109728" cy="594360"/>
          </a:xfrm>
          <a:prstGeom prst="rect">
            <a:avLst/>
          </a:prstGeom>
          <a:solidFill>
            <a:srgbClr val="E8624A"/>
          </a:solidFill>
          <a:ln w="12700">
            <a:solidFill>
              <a:srgbClr val="E8624A"/>
            </a:solidFill>
            <a:prstDash val="solid"/>
          </a:ln>
        </p:spPr>
        <p:txBody>
          <a:bodyPr/>
          <a:lstStyle/>
          <a:p>
            <a:endParaRPr lang="en-US"/>
          </a:p>
        </p:txBody>
      </p:sp>
      <p:sp>
        <p:nvSpPr>
          <p:cNvPr id="4" name="Shape 2">
            <a:extLst>
              <a:ext uri="{FF2B5EF4-FFF2-40B4-BE49-F238E27FC236}">
                <a16:creationId xmlns:a16="http://schemas.microsoft.com/office/drawing/2014/main" id="{3B93B3C6-D6EC-1953-F8FD-6877ADE2A9DA}"/>
              </a:ext>
            </a:extLst>
          </p:cNvPr>
          <p:cNvSpPr/>
          <p:nvPr/>
        </p:nvSpPr>
        <p:spPr>
          <a:xfrm>
            <a:off x="0" y="4887468"/>
            <a:ext cx="9144000" cy="256032"/>
          </a:xfrm>
          <a:prstGeom prst="rect">
            <a:avLst/>
          </a:prstGeom>
          <a:solidFill>
            <a:srgbClr val="1B2A4A"/>
          </a:solidFill>
          <a:ln w="12700">
            <a:solidFill>
              <a:srgbClr val="1B2A4A"/>
            </a:solidFill>
            <a:prstDash val="solid"/>
          </a:ln>
        </p:spPr>
        <p:txBody>
          <a:bodyPr/>
          <a:lstStyle/>
          <a:p>
            <a:endParaRPr lang="en-US"/>
          </a:p>
        </p:txBody>
      </p:sp>
      <p:sp>
        <p:nvSpPr>
          <p:cNvPr id="5" name="Shape 3">
            <a:extLst>
              <a:ext uri="{FF2B5EF4-FFF2-40B4-BE49-F238E27FC236}">
                <a16:creationId xmlns:a16="http://schemas.microsoft.com/office/drawing/2014/main" id="{023BD966-1107-9858-C23C-F4D85AD90663}"/>
              </a:ext>
            </a:extLst>
          </p:cNvPr>
          <p:cNvSpPr/>
          <p:nvPr/>
        </p:nvSpPr>
        <p:spPr>
          <a:xfrm>
            <a:off x="0" y="4887468"/>
            <a:ext cx="109728" cy="256032"/>
          </a:xfrm>
          <a:prstGeom prst="rect">
            <a:avLst/>
          </a:prstGeom>
          <a:solidFill>
            <a:srgbClr val="E8624A"/>
          </a:solidFill>
          <a:ln w="12700">
            <a:solidFill>
              <a:srgbClr val="E8624A"/>
            </a:solidFill>
            <a:prstDash val="solid"/>
          </a:ln>
        </p:spPr>
        <p:txBody>
          <a:bodyPr/>
          <a:lstStyle/>
          <a:p>
            <a:endParaRPr lang="en-US"/>
          </a:p>
        </p:txBody>
      </p:sp>
      <p:sp>
        <p:nvSpPr>
          <p:cNvPr id="6" name="Text 4">
            <a:extLst>
              <a:ext uri="{FF2B5EF4-FFF2-40B4-BE49-F238E27FC236}">
                <a16:creationId xmlns:a16="http://schemas.microsoft.com/office/drawing/2014/main" id="{A7D8655A-36AB-8627-8403-05896C9B0341}"/>
              </a:ext>
            </a:extLst>
          </p:cNvPr>
          <p:cNvSpPr/>
          <p:nvPr/>
        </p:nvSpPr>
        <p:spPr>
          <a:xfrm>
            <a:off x="228600" y="4887468"/>
            <a:ext cx="7315200" cy="256032"/>
          </a:xfrm>
          <a:prstGeom prst="rect">
            <a:avLst/>
          </a:prstGeom>
          <a:noFill/>
          <a:ln/>
        </p:spPr>
        <p:txBody>
          <a:bodyPr wrap="square" lIns="0" tIns="0" rIns="0" bIns="0" rtlCol="0" anchor="ctr"/>
          <a:lstStyle/>
          <a:p>
            <a:pPr marL="0" indent="0">
              <a:buNone/>
            </a:pPr>
            <a:endParaRPr lang="en-US" sz="800" dirty="0"/>
          </a:p>
        </p:txBody>
      </p:sp>
      <p:sp>
        <p:nvSpPr>
          <p:cNvPr id="7" name="Text 5">
            <a:extLst>
              <a:ext uri="{FF2B5EF4-FFF2-40B4-BE49-F238E27FC236}">
                <a16:creationId xmlns:a16="http://schemas.microsoft.com/office/drawing/2014/main" id="{AF2A12CB-8FD9-38F2-87A7-A272C8BA3F28}"/>
              </a:ext>
            </a:extLst>
          </p:cNvPr>
          <p:cNvSpPr/>
          <p:nvPr/>
        </p:nvSpPr>
        <p:spPr>
          <a:xfrm>
            <a:off x="274320" y="0"/>
            <a:ext cx="8229600" cy="594360"/>
          </a:xfrm>
          <a:prstGeom prst="rect">
            <a:avLst/>
          </a:prstGeom>
          <a:noFill/>
          <a:ln/>
        </p:spPr>
        <p:txBody>
          <a:bodyPr wrap="square" lIns="0" tIns="0" rIns="0" bIns="0" rtlCol="0" anchor="ctr"/>
          <a:lstStyle/>
          <a:p>
            <a:pPr marL="0" indent="0">
              <a:buNone/>
            </a:pPr>
            <a:r>
              <a:rPr lang="en-US" sz="1800" b="1" dirty="0">
                <a:solidFill>
                  <a:srgbClr val="FFFFFF"/>
                </a:solidFill>
                <a:latin typeface="Calibri" pitchFamily="34" charset="0"/>
                <a:ea typeface="Calibri" pitchFamily="34" charset="-122"/>
                <a:cs typeface="Calibri" pitchFamily="34" charset="-120"/>
              </a:rPr>
              <a:t>Positional Risk</a:t>
            </a:r>
            <a:endParaRPr lang="en-US" sz="1800" dirty="0"/>
          </a:p>
        </p:txBody>
      </p:sp>
      <p:sp>
        <p:nvSpPr>
          <p:cNvPr id="8" name="Text 6">
            <a:extLst>
              <a:ext uri="{FF2B5EF4-FFF2-40B4-BE49-F238E27FC236}">
                <a16:creationId xmlns:a16="http://schemas.microsoft.com/office/drawing/2014/main" id="{8B1AD442-80A5-78E7-1F2E-7FB61A860A0A}"/>
              </a:ext>
            </a:extLst>
          </p:cNvPr>
          <p:cNvSpPr/>
          <p:nvPr/>
        </p:nvSpPr>
        <p:spPr>
          <a:xfrm>
            <a:off x="411480" y="960120"/>
            <a:ext cx="4114800" cy="411480"/>
          </a:xfrm>
          <a:prstGeom prst="rect">
            <a:avLst/>
          </a:prstGeom>
          <a:noFill/>
          <a:ln/>
        </p:spPr>
        <p:txBody>
          <a:bodyPr wrap="square" lIns="0" tIns="0" rIns="0" bIns="0" rtlCol="0" anchor="ctr"/>
          <a:lstStyle/>
          <a:p>
            <a:pPr marL="0" indent="0">
              <a:buNone/>
            </a:pPr>
            <a:endParaRPr lang="en-US" sz="1600" dirty="0"/>
          </a:p>
        </p:txBody>
      </p:sp>
      <p:sp>
        <p:nvSpPr>
          <p:cNvPr id="10" name="Shape 8">
            <a:extLst>
              <a:ext uri="{FF2B5EF4-FFF2-40B4-BE49-F238E27FC236}">
                <a16:creationId xmlns:a16="http://schemas.microsoft.com/office/drawing/2014/main" id="{ACFCBB77-C6A5-B435-6854-214967955EC0}"/>
              </a:ext>
            </a:extLst>
          </p:cNvPr>
          <p:cNvSpPr/>
          <p:nvPr/>
        </p:nvSpPr>
        <p:spPr>
          <a:xfrm>
            <a:off x="1792224" y="907086"/>
            <a:ext cx="4967021" cy="3613708"/>
          </a:xfrm>
          <a:prstGeom prst="rect">
            <a:avLst/>
          </a:prstGeom>
          <a:solidFill>
            <a:srgbClr val="F5F5F5"/>
          </a:solidFill>
          <a:ln w="12700">
            <a:solidFill>
              <a:srgbClr val="DDDDDD"/>
            </a:solidFill>
            <a:prstDash val="solid"/>
          </a:ln>
        </p:spPr>
        <p:txBody>
          <a:bodyPr/>
          <a:lstStyle/>
          <a:p>
            <a:endParaRPr lang="en-US"/>
          </a:p>
        </p:txBody>
      </p:sp>
      <p:pic>
        <p:nvPicPr>
          <p:cNvPr id="12" name="Picture 11">
            <a:extLst>
              <a:ext uri="{FF2B5EF4-FFF2-40B4-BE49-F238E27FC236}">
                <a16:creationId xmlns:a16="http://schemas.microsoft.com/office/drawing/2014/main" id="{574B9DA5-3A8A-18B1-31E7-71AD251C523A}"/>
              </a:ext>
            </a:extLst>
          </p:cNvPr>
          <p:cNvPicPr>
            <a:picLocks noChangeAspect="1"/>
          </p:cNvPicPr>
          <p:nvPr/>
        </p:nvPicPr>
        <p:blipFill>
          <a:blip r:embed="rId3"/>
          <a:stretch>
            <a:fillRect/>
          </a:stretch>
        </p:blipFill>
        <p:spPr>
          <a:xfrm>
            <a:off x="1931213" y="1026872"/>
            <a:ext cx="4647179" cy="3339389"/>
          </a:xfrm>
          <a:prstGeom prst="rect">
            <a:avLst/>
          </a:prstGeom>
        </p:spPr>
      </p:pic>
    </p:spTree>
    <p:extLst>
      <p:ext uri="{BB962C8B-B14F-4D97-AF65-F5344CB8AC3E}">
        <p14:creationId xmlns:p14="http://schemas.microsoft.com/office/powerpoint/2010/main" val="137049045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5B5E3DBA-BE21-AD95-C026-D4FEC705BD5D}"/>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0F8A9593-08F7-6DF3-8106-B53242DC7702}"/>
              </a:ext>
            </a:extLst>
          </p:cNvPr>
          <p:cNvSpPr/>
          <p:nvPr/>
        </p:nvSpPr>
        <p:spPr>
          <a:xfrm>
            <a:off x="0" y="0"/>
            <a:ext cx="9144000" cy="594360"/>
          </a:xfrm>
          <a:prstGeom prst="rect">
            <a:avLst/>
          </a:prstGeom>
          <a:solidFill>
            <a:srgbClr val="1B2A4A"/>
          </a:solidFill>
          <a:ln w="12700">
            <a:solidFill>
              <a:srgbClr val="1B2A4A"/>
            </a:solidFill>
            <a:prstDash val="solid"/>
          </a:ln>
        </p:spPr>
        <p:txBody>
          <a:bodyPr/>
          <a:lstStyle/>
          <a:p>
            <a:endParaRPr lang="en-US"/>
          </a:p>
        </p:txBody>
      </p:sp>
      <p:sp>
        <p:nvSpPr>
          <p:cNvPr id="3" name="Shape 1">
            <a:extLst>
              <a:ext uri="{FF2B5EF4-FFF2-40B4-BE49-F238E27FC236}">
                <a16:creationId xmlns:a16="http://schemas.microsoft.com/office/drawing/2014/main" id="{41261E69-DBF8-80A5-C369-CBC8C02D2F9A}"/>
              </a:ext>
            </a:extLst>
          </p:cNvPr>
          <p:cNvSpPr/>
          <p:nvPr/>
        </p:nvSpPr>
        <p:spPr>
          <a:xfrm>
            <a:off x="0" y="0"/>
            <a:ext cx="109728" cy="594360"/>
          </a:xfrm>
          <a:prstGeom prst="rect">
            <a:avLst/>
          </a:prstGeom>
          <a:solidFill>
            <a:srgbClr val="E8624A"/>
          </a:solidFill>
          <a:ln w="12700">
            <a:solidFill>
              <a:srgbClr val="E8624A"/>
            </a:solidFill>
            <a:prstDash val="solid"/>
          </a:ln>
        </p:spPr>
        <p:txBody>
          <a:bodyPr/>
          <a:lstStyle/>
          <a:p>
            <a:endParaRPr lang="en-US"/>
          </a:p>
        </p:txBody>
      </p:sp>
      <p:sp>
        <p:nvSpPr>
          <p:cNvPr id="4" name="Shape 2">
            <a:extLst>
              <a:ext uri="{FF2B5EF4-FFF2-40B4-BE49-F238E27FC236}">
                <a16:creationId xmlns:a16="http://schemas.microsoft.com/office/drawing/2014/main" id="{867E4569-9F1B-4C6A-0C50-B3D88C8FCB90}"/>
              </a:ext>
            </a:extLst>
          </p:cNvPr>
          <p:cNvSpPr/>
          <p:nvPr/>
        </p:nvSpPr>
        <p:spPr>
          <a:xfrm>
            <a:off x="0" y="4887468"/>
            <a:ext cx="9144000" cy="256032"/>
          </a:xfrm>
          <a:prstGeom prst="rect">
            <a:avLst/>
          </a:prstGeom>
          <a:solidFill>
            <a:srgbClr val="1B2A4A"/>
          </a:solidFill>
          <a:ln w="12700">
            <a:solidFill>
              <a:srgbClr val="1B2A4A"/>
            </a:solidFill>
            <a:prstDash val="solid"/>
          </a:ln>
        </p:spPr>
        <p:txBody>
          <a:bodyPr/>
          <a:lstStyle/>
          <a:p>
            <a:endParaRPr lang="en-US"/>
          </a:p>
        </p:txBody>
      </p:sp>
      <p:sp>
        <p:nvSpPr>
          <p:cNvPr id="5" name="Shape 3">
            <a:extLst>
              <a:ext uri="{FF2B5EF4-FFF2-40B4-BE49-F238E27FC236}">
                <a16:creationId xmlns:a16="http://schemas.microsoft.com/office/drawing/2014/main" id="{79F91293-BB3F-5121-63BC-3AFBB041AE52}"/>
              </a:ext>
            </a:extLst>
          </p:cNvPr>
          <p:cNvSpPr/>
          <p:nvPr/>
        </p:nvSpPr>
        <p:spPr>
          <a:xfrm>
            <a:off x="0" y="4887468"/>
            <a:ext cx="109728" cy="256032"/>
          </a:xfrm>
          <a:prstGeom prst="rect">
            <a:avLst/>
          </a:prstGeom>
          <a:solidFill>
            <a:srgbClr val="E8624A"/>
          </a:solidFill>
          <a:ln w="12700">
            <a:solidFill>
              <a:srgbClr val="E8624A"/>
            </a:solidFill>
            <a:prstDash val="solid"/>
          </a:ln>
        </p:spPr>
        <p:txBody>
          <a:bodyPr/>
          <a:lstStyle/>
          <a:p>
            <a:endParaRPr lang="en-US"/>
          </a:p>
        </p:txBody>
      </p:sp>
      <p:sp>
        <p:nvSpPr>
          <p:cNvPr id="6" name="Text 4">
            <a:extLst>
              <a:ext uri="{FF2B5EF4-FFF2-40B4-BE49-F238E27FC236}">
                <a16:creationId xmlns:a16="http://schemas.microsoft.com/office/drawing/2014/main" id="{6A470187-1AF9-086C-F758-88CA44E04F17}"/>
              </a:ext>
            </a:extLst>
          </p:cNvPr>
          <p:cNvSpPr/>
          <p:nvPr/>
        </p:nvSpPr>
        <p:spPr>
          <a:xfrm>
            <a:off x="228600" y="4887468"/>
            <a:ext cx="7315200" cy="256032"/>
          </a:xfrm>
          <a:prstGeom prst="rect">
            <a:avLst/>
          </a:prstGeom>
          <a:noFill/>
          <a:ln/>
        </p:spPr>
        <p:txBody>
          <a:bodyPr wrap="square" lIns="0" tIns="0" rIns="0" bIns="0" rtlCol="0" anchor="ctr"/>
          <a:lstStyle/>
          <a:p>
            <a:pPr marL="0" indent="0">
              <a:buNone/>
            </a:pPr>
            <a:endParaRPr lang="en-US" sz="800" dirty="0"/>
          </a:p>
        </p:txBody>
      </p:sp>
      <p:sp>
        <p:nvSpPr>
          <p:cNvPr id="7" name="Text 5">
            <a:extLst>
              <a:ext uri="{FF2B5EF4-FFF2-40B4-BE49-F238E27FC236}">
                <a16:creationId xmlns:a16="http://schemas.microsoft.com/office/drawing/2014/main" id="{B1A029E3-F6F1-7414-C9EF-E2299EA097B7}"/>
              </a:ext>
            </a:extLst>
          </p:cNvPr>
          <p:cNvSpPr/>
          <p:nvPr/>
        </p:nvSpPr>
        <p:spPr>
          <a:xfrm>
            <a:off x="274320" y="0"/>
            <a:ext cx="8229600" cy="594360"/>
          </a:xfrm>
          <a:prstGeom prst="rect">
            <a:avLst/>
          </a:prstGeom>
          <a:noFill/>
          <a:ln/>
        </p:spPr>
        <p:txBody>
          <a:bodyPr wrap="square" lIns="0" tIns="0" rIns="0" bIns="0" rtlCol="0" anchor="ctr"/>
          <a:lstStyle/>
          <a:p>
            <a:pPr marL="0" indent="0">
              <a:buNone/>
            </a:pPr>
            <a:r>
              <a:rPr lang="en-US" sz="1800" b="1" dirty="0">
                <a:solidFill>
                  <a:srgbClr val="FFFFFF"/>
                </a:solidFill>
                <a:latin typeface="Calibri" pitchFamily="34" charset="0"/>
                <a:ea typeface="Calibri" pitchFamily="34" charset="-122"/>
                <a:cs typeface="Calibri" pitchFamily="34" charset="-120"/>
              </a:rPr>
              <a:t>Findings</a:t>
            </a:r>
          </a:p>
        </p:txBody>
      </p:sp>
      <p:sp>
        <p:nvSpPr>
          <p:cNvPr id="8" name="Text 6">
            <a:extLst>
              <a:ext uri="{FF2B5EF4-FFF2-40B4-BE49-F238E27FC236}">
                <a16:creationId xmlns:a16="http://schemas.microsoft.com/office/drawing/2014/main" id="{72060E33-39F3-C51A-13FE-F6954ACA222A}"/>
              </a:ext>
            </a:extLst>
          </p:cNvPr>
          <p:cNvSpPr/>
          <p:nvPr/>
        </p:nvSpPr>
        <p:spPr>
          <a:xfrm>
            <a:off x="380391" y="819758"/>
            <a:ext cx="8229600" cy="3621025"/>
          </a:xfrm>
          <a:prstGeom prst="rect">
            <a:avLst/>
          </a:prstGeom>
          <a:noFill/>
          <a:ln/>
        </p:spPr>
        <p:txBody>
          <a:bodyPr wrap="square" lIns="0" tIns="0" rIns="0" bIns="0" rtlCol="0" anchor="ctr"/>
          <a:lstStyle/>
          <a:p>
            <a:r>
              <a:rPr lang="en-US" sz="2800" b="1" dirty="0">
                <a:solidFill>
                  <a:srgbClr val="1B2A4A"/>
                </a:solidFill>
                <a:latin typeface="Calibri" pitchFamily="34" charset="0"/>
                <a:ea typeface="Calibri" pitchFamily="34" charset="-122"/>
                <a:cs typeface="Calibri" pitchFamily="34" charset="-120"/>
              </a:rPr>
              <a:t>Factors that lead to injury…</a:t>
            </a:r>
          </a:p>
          <a:p>
            <a:endParaRPr lang="en-US" sz="2800" b="1" dirty="0">
              <a:solidFill>
                <a:srgbClr val="1B2A4A"/>
              </a:solidFill>
              <a:latin typeface="Calibri" pitchFamily="34" charset="0"/>
              <a:ea typeface="Calibri" pitchFamily="34" charset="-122"/>
              <a:cs typeface="Calibri" pitchFamily="34" charset="-120"/>
            </a:endParaRPr>
          </a:p>
          <a:p>
            <a:r>
              <a:rPr lang="en-US" sz="1600" dirty="0">
                <a:solidFill>
                  <a:srgbClr val="1B2A4A"/>
                </a:solidFill>
                <a:latin typeface="Calibri" pitchFamily="34" charset="0"/>
                <a:ea typeface="Calibri" pitchFamily="34" charset="-122"/>
                <a:cs typeface="Calibri" pitchFamily="34" charset="-120"/>
              </a:rPr>
              <a:t>Lifestyle: High stress levels, inadequate sleep, and poor nutrition </a:t>
            </a:r>
          </a:p>
          <a:p>
            <a:endParaRPr lang="en-US" sz="1600" dirty="0">
              <a:solidFill>
                <a:srgbClr val="1B2A4A"/>
              </a:solidFill>
              <a:latin typeface="Calibri" pitchFamily="34" charset="0"/>
              <a:ea typeface="Calibri" pitchFamily="34" charset="-122"/>
              <a:cs typeface="Calibri" pitchFamily="34" charset="-120"/>
            </a:endParaRPr>
          </a:p>
          <a:p>
            <a:r>
              <a:rPr lang="en-US" sz="1600" dirty="0">
                <a:solidFill>
                  <a:srgbClr val="1B2A4A"/>
                </a:solidFill>
                <a:latin typeface="Calibri" pitchFamily="34" charset="0"/>
                <a:ea typeface="Calibri" pitchFamily="34" charset="-122"/>
                <a:cs typeface="Calibri" pitchFamily="34" charset="-120"/>
              </a:rPr>
              <a:t>History: Previous injury count strongly predictive</a:t>
            </a:r>
          </a:p>
          <a:p>
            <a:endParaRPr lang="en-US" sz="1600" dirty="0">
              <a:solidFill>
                <a:srgbClr val="1B2A4A"/>
              </a:solidFill>
              <a:latin typeface="Calibri" pitchFamily="34" charset="0"/>
              <a:ea typeface="Calibri" pitchFamily="34" charset="-122"/>
              <a:cs typeface="Calibri" pitchFamily="34" charset="-120"/>
            </a:endParaRPr>
          </a:p>
          <a:p>
            <a:r>
              <a:rPr lang="en-US" sz="1600" dirty="0">
                <a:solidFill>
                  <a:srgbClr val="1B2A4A"/>
                </a:solidFill>
                <a:latin typeface="Calibri" pitchFamily="34" charset="0"/>
                <a:ea typeface="Calibri" pitchFamily="34" charset="-122"/>
                <a:cs typeface="Calibri" pitchFamily="34" charset="-120"/>
              </a:rPr>
              <a:t>Physical: Low lower body balance, flexibility, and strength</a:t>
            </a:r>
          </a:p>
          <a:p>
            <a:endParaRPr lang="en-US" sz="1600" dirty="0">
              <a:solidFill>
                <a:srgbClr val="1B2A4A"/>
              </a:solidFill>
              <a:latin typeface="Calibri" pitchFamily="34" charset="0"/>
              <a:ea typeface="Calibri" pitchFamily="34" charset="-122"/>
              <a:cs typeface="Calibri" pitchFamily="34" charset="-120"/>
            </a:endParaRPr>
          </a:p>
          <a:p>
            <a:r>
              <a:rPr lang="en-US" sz="1600" dirty="0">
                <a:solidFill>
                  <a:srgbClr val="1B2A4A"/>
                </a:solidFill>
                <a:latin typeface="Calibri" pitchFamily="34" charset="0"/>
                <a:ea typeface="Calibri" pitchFamily="34" charset="-122"/>
                <a:cs typeface="Calibri" pitchFamily="34" charset="-120"/>
              </a:rPr>
              <a:t>Behavioral: Inconsistent training and poor warmup adherence</a:t>
            </a:r>
          </a:p>
          <a:p>
            <a:endParaRPr lang="en-US" sz="1600" dirty="0">
              <a:solidFill>
                <a:srgbClr val="1B2A4A"/>
              </a:solidFill>
              <a:latin typeface="Calibri" pitchFamily="34" charset="0"/>
              <a:ea typeface="Calibri" pitchFamily="34" charset="-122"/>
              <a:cs typeface="Calibri" pitchFamily="34" charset="-120"/>
            </a:endParaRPr>
          </a:p>
          <a:p>
            <a:r>
              <a:rPr lang="en-US" sz="1600" dirty="0">
                <a:solidFill>
                  <a:srgbClr val="1B2A4A"/>
                </a:solidFill>
                <a:latin typeface="Calibri" pitchFamily="34" charset="0"/>
                <a:ea typeface="Calibri" pitchFamily="34" charset="-122"/>
                <a:cs typeface="Calibri" pitchFamily="34" charset="-120"/>
              </a:rPr>
              <a:t>Positional: Forwards and Midfielders at a higher risk of injury than Defenders and Goalkeepers</a:t>
            </a:r>
          </a:p>
          <a:p>
            <a:endParaRPr lang="en-US" sz="2000" dirty="0"/>
          </a:p>
        </p:txBody>
      </p:sp>
    </p:spTree>
    <p:extLst>
      <p:ext uri="{BB962C8B-B14F-4D97-AF65-F5344CB8AC3E}">
        <p14:creationId xmlns:p14="http://schemas.microsoft.com/office/powerpoint/2010/main" val="211849111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94360"/>
          </a:xfrm>
          <a:prstGeom prst="rect">
            <a:avLst/>
          </a:prstGeom>
          <a:solidFill>
            <a:srgbClr val="1B2A4A"/>
          </a:solidFill>
          <a:ln w="12700">
            <a:solidFill>
              <a:srgbClr val="1B2A4A"/>
            </a:solidFill>
            <a:prstDash val="solid"/>
          </a:ln>
        </p:spPr>
        <p:txBody>
          <a:bodyPr/>
          <a:lstStyle/>
          <a:p>
            <a:endParaRPr lang="en-US"/>
          </a:p>
        </p:txBody>
      </p:sp>
      <p:sp>
        <p:nvSpPr>
          <p:cNvPr id="3" name="Shape 1"/>
          <p:cNvSpPr/>
          <p:nvPr/>
        </p:nvSpPr>
        <p:spPr>
          <a:xfrm>
            <a:off x="0" y="0"/>
            <a:ext cx="109728" cy="594360"/>
          </a:xfrm>
          <a:prstGeom prst="rect">
            <a:avLst/>
          </a:prstGeom>
          <a:solidFill>
            <a:srgbClr val="E8624A"/>
          </a:solidFill>
          <a:ln w="12700">
            <a:solidFill>
              <a:srgbClr val="E8624A"/>
            </a:solidFill>
            <a:prstDash val="solid"/>
          </a:ln>
        </p:spPr>
        <p:txBody>
          <a:bodyPr/>
          <a:lstStyle/>
          <a:p>
            <a:endParaRPr lang="en-US"/>
          </a:p>
        </p:txBody>
      </p:sp>
      <p:sp>
        <p:nvSpPr>
          <p:cNvPr id="4" name="Shape 2"/>
          <p:cNvSpPr/>
          <p:nvPr/>
        </p:nvSpPr>
        <p:spPr>
          <a:xfrm>
            <a:off x="0" y="4887468"/>
            <a:ext cx="9144000" cy="256032"/>
          </a:xfrm>
          <a:prstGeom prst="rect">
            <a:avLst/>
          </a:prstGeom>
          <a:solidFill>
            <a:srgbClr val="1B2A4A"/>
          </a:solidFill>
          <a:ln w="12700">
            <a:solidFill>
              <a:srgbClr val="1B2A4A"/>
            </a:solidFill>
            <a:prstDash val="solid"/>
          </a:ln>
        </p:spPr>
        <p:txBody>
          <a:bodyPr/>
          <a:lstStyle/>
          <a:p>
            <a:endParaRPr lang="en-US"/>
          </a:p>
        </p:txBody>
      </p:sp>
      <p:sp>
        <p:nvSpPr>
          <p:cNvPr id="5" name="Shape 3"/>
          <p:cNvSpPr/>
          <p:nvPr/>
        </p:nvSpPr>
        <p:spPr>
          <a:xfrm>
            <a:off x="0" y="4887468"/>
            <a:ext cx="109728" cy="256032"/>
          </a:xfrm>
          <a:prstGeom prst="rect">
            <a:avLst/>
          </a:prstGeom>
          <a:solidFill>
            <a:srgbClr val="E8624A"/>
          </a:solidFill>
          <a:ln w="12700">
            <a:solidFill>
              <a:srgbClr val="E8624A"/>
            </a:solidFill>
            <a:prstDash val="solid"/>
          </a:ln>
        </p:spPr>
        <p:txBody>
          <a:bodyPr/>
          <a:lstStyle/>
          <a:p>
            <a:endParaRPr lang="en-US"/>
          </a:p>
        </p:txBody>
      </p:sp>
      <p:sp>
        <p:nvSpPr>
          <p:cNvPr id="6" name="Text 4"/>
          <p:cNvSpPr/>
          <p:nvPr/>
        </p:nvSpPr>
        <p:spPr>
          <a:xfrm>
            <a:off x="228600" y="4887468"/>
            <a:ext cx="7315200" cy="256032"/>
          </a:xfrm>
          <a:prstGeom prst="rect">
            <a:avLst/>
          </a:prstGeom>
          <a:noFill/>
          <a:ln/>
        </p:spPr>
        <p:txBody>
          <a:bodyPr wrap="square" lIns="0" tIns="0" rIns="0" bIns="0" rtlCol="0" anchor="ctr"/>
          <a:lstStyle/>
          <a:p>
            <a:pPr marL="0" indent="0">
              <a:buNone/>
            </a:pPr>
            <a:endParaRPr lang="en-US" sz="800" dirty="0"/>
          </a:p>
        </p:txBody>
      </p:sp>
      <p:sp>
        <p:nvSpPr>
          <p:cNvPr id="7" name="Text 5"/>
          <p:cNvSpPr/>
          <p:nvPr/>
        </p:nvSpPr>
        <p:spPr>
          <a:xfrm>
            <a:off x="274320" y="0"/>
            <a:ext cx="8229600" cy="594360"/>
          </a:xfrm>
          <a:prstGeom prst="rect">
            <a:avLst/>
          </a:prstGeom>
          <a:noFill/>
          <a:ln/>
        </p:spPr>
        <p:txBody>
          <a:bodyPr wrap="square" lIns="0" tIns="0" rIns="0" bIns="0" rtlCol="0" anchor="ctr"/>
          <a:lstStyle/>
          <a:p>
            <a:pPr marL="0" indent="0">
              <a:buNone/>
            </a:pPr>
            <a:r>
              <a:rPr lang="en-US" sz="1800" b="1" dirty="0">
                <a:solidFill>
                  <a:srgbClr val="FFFFFF"/>
                </a:solidFill>
                <a:latin typeface="Calibri" pitchFamily="34" charset="0"/>
                <a:ea typeface="Calibri" pitchFamily="34" charset="-122"/>
                <a:cs typeface="Calibri" pitchFamily="34" charset="-120"/>
              </a:rPr>
              <a:t>Ethical Concerns</a:t>
            </a:r>
          </a:p>
        </p:txBody>
      </p:sp>
      <p:sp>
        <p:nvSpPr>
          <p:cNvPr id="8" name="Text 6"/>
          <p:cNvSpPr/>
          <p:nvPr/>
        </p:nvSpPr>
        <p:spPr>
          <a:xfrm>
            <a:off x="438912" y="373531"/>
            <a:ext cx="8229600" cy="3621025"/>
          </a:xfrm>
          <a:prstGeom prst="rect">
            <a:avLst/>
          </a:prstGeom>
          <a:noFill/>
          <a:ln/>
        </p:spPr>
        <p:txBody>
          <a:bodyPr wrap="square" lIns="0" tIns="0" rIns="0" bIns="0" rtlCol="0" anchor="ctr"/>
          <a:lstStyle/>
          <a:p>
            <a:pPr marL="342900" indent="-342900">
              <a:buFont typeface="Arial" panose="020B0604020202020204" pitchFamily="34" charset="0"/>
              <a:buChar char="•"/>
            </a:pPr>
            <a:r>
              <a:rPr lang="en-US" sz="2800" b="1" dirty="0">
                <a:solidFill>
                  <a:srgbClr val="1B2A4A"/>
                </a:solidFill>
                <a:latin typeface="Calibri" pitchFamily="34" charset="0"/>
                <a:ea typeface="Calibri" pitchFamily="34" charset="-122"/>
                <a:cs typeface="Calibri" pitchFamily="34" charset="-120"/>
              </a:rPr>
              <a:t>Privacy and Data Security</a:t>
            </a:r>
          </a:p>
          <a:p>
            <a:pPr marL="800100" lvl="1" indent="-342900">
              <a:buFont typeface="Arial" panose="020B0604020202020204" pitchFamily="34" charset="0"/>
              <a:buChar char="•"/>
            </a:pPr>
            <a:r>
              <a:rPr lang="en-US" sz="1400" dirty="0">
                <a:solidFill>
                  <a:srgbClr val="1B2A4A"/>
                </a:solidFill>
                <a:latin typeface="Calibri" pitchFamily="34" charset="0"/>
                <a:ea typeface="Calibri" pitchFamily="34" charset="-122"/>
                <a:cs typeface="Calibri" pitchFamily="34" charset="-120"/>
              </a:rPr>
              <a:t>Athlete health is highly sensitive</a:t>
            </a:r>
          </a:p>
          <a:p>
            <a:pPr marL="800100" lvl="1" indent="-342900">
              <a:buFont typeface="Arial" panose="020B0604020202020204" pitchFamily="34" charset="0"/>
              <a:buChar char="•"/>
            </a:pPr>
            <a:r>
              <a:rPr lang="en-US" sz="1400" dirty="0">
                <a:solidFill>
                  <a:srgbClr val="1B2A4A"/>
                </a:solidFill>
                <a:latin typeface="Calibri" pitchFamily="34" charset="0"/>
                <a:ea typeface="Calibri" pitchFamily="34" charset="-122"/>
                <a:cs typeface="Calibri" pitchFamily="34" charset="-120"/>
              </a:rPr>
              <a:t>High security measures required</a:t>
            </a:r>
          </a:p>
          <a:p>
            <a:pPr marL="342900" indent="-342900">
              <a:buFont typeface="Arial" panose="020B0604020202020204" pitchFamily="34" charset="0"/>
              <a:buChar char="•"/>
            </a:pPr>
            <a:r>
              <a:rPr lang="en-US" sz="2800" b="1" dirty="0">
                <a:solidFill>
                  <a:srgbClr val="1B2A4A"/>
                </a:solidFill>
                <a:latin typeface="Calibri" pitchFamily="34" charset="0"/>
                <a:ea typeface="Calibri" pitchFamily="34" charset="-122"/>
                <a:cs typeface="Calibri" pitchFamily="34" charset="-120"/>
              </a:rPr>
              <a:t>Fairness and Equity</a:t>
            </a:r>
          </a:p>
          <a:p>
            <a:pPr marL="800100" lvl="1" indent="-342900">
              <a:buFont typeface="Arial" panose="020B0604020202020204" pitchFamily="34" charset="0"/>
              <a:buChar char="•"/>
            </a:pPr>
            <a:r>
              <a:rPr lang="en-US" sz="1400" dirty="0">
                <a:solidFill>
                  <a:srgbClr val="1B2A4A"/>
                </a:solidFill>
                <a:latin typeface="Calibri" pitchFamily="34" charset="0"/>
                <a:ea typeface="Calibri" pitchFamily="34" charset="-122"/>
                <a:cs typeface="Calibri" pitchFamily="34" charset="-120"/>
              </a:rPr>
              <a:t>Avoid stigmatization of “high-risk” players</a:t>
            </a:r>
            <a:endParaRPr lang="en-US" sz="1400" b="1" dirty="0">
              <a:solidFill>
                <a:srgbClr val="1B2A4A"/>
              </a:solidFill>
              <a:latin typeface="Calibri" pitchFamily="34" charset="0"/>
              <a:ea typeface="Calibri" pitchFamily="34" charset="-122"/>
              <a:cs typeface="Calibri" pitchFamily="34" charset="-120"/>
            </a:endParaRPr>
          </a:p>
          <a:p>
            <a:pPr marL="342900" indent="-342900">
              <a:buFont typeface="Arial" panose="020B0604020202020204" pitchFamily="34" charset="0"/>
              <a:buChar char="•"/>
            </a:pPr>
            <a:r>
              <a:rPr lang="en-US" sz="2800" b="1" dirty="0">
                <a:solidFill>
                  <a:srgbClr val="1B2A4A"/>
                </a:solidFill>
                <a:latin typeface="Calibri" pitchFamily="34" charset="0"/>
                <a:ea typeface="Calibri" pitchFamily="34" charset="-122"/>
                <a:cs typeface="Calibri" pitchFamily="34" charset="-120"/>
              </a:rPr>
              <a:t>Responsible Implementation</a:t>
            </a:r>
          </a:p>
          <a:p>
            <a:pPr marL="800100" lvl="1" indent="-342900">
              <a:buFont typeface="Arial" panose="020B0604020202020204" pitchFamily="34" charset="0"/>
              <a:buChar char="•"/>
            </a:pPr>
            <a:r>
              <a:rPr lang="en-US" sz="1400" dirty="0">
                <a:solidFill>
                  <a:srgbClr val="1B2A4A"/>
                </a:solidFill>
                <a:latin typeface="Calibri" pitchFamily="34" charset="0"/>
                <a:ea typeface="Calibri" pitchFamily="34" charset="-122"/>
                <a:cs typeface="Calibri" pitchFamily="34" charset="-120"/>
              </a:rPr>
              <a:t>Avoid overreliance on prediction models</a:t>
            </a:r>
          </a:p>
          <a:p>
            <a:pPr marL="800100" lvl="1" indent="-342900">
              <a:buFont typeface="Arial" panose="020B0604020202020204" pitchFamily="34" charset="0"/>
              <a:buChar char="•"/>
            </a:pPr>
            <a:r>
              <a:rPr lang="en-US" sz="1400" dirty="0">
                <a:solidFill>
                  <a:srgbClr val="1B2A4A"/>
                </a:solidFill>
                <a:latin typeface="Calibri" pitchFamily="34" charset="0"/>
                <a:ea typeface="Calibri" pitchFamily="34" charset="-122"/>
                <a:cs typeface="Calibri" pitchFamily="34" charset="-120"/>
              </a:rPr>
              <a:t>Informed consent for data use</a:t>
            </a:r>
          </a:p>
          <a:p>
            <a:pPr marL="800100" lvl="1" indent="-342900">
              <a:buFont typeface="Arial" panose="020B0604020202020204" pitchFamily="34" charset="0"/>
              <a:buChar char="•"/>
            </a:pPr>
            <a:r>
              <a:rPr lang="en-US" sz="1400" dirty="0">
                <a:solidFill>
                  <a:srgbClr val="1B2A4A"/>
                </a:solidFill>
                <a:latin typeface="Calibri" pitchFamily="34" charset="0"/>
                <a:ea typeface="Calibri" pitchFamily="34" charset="-122"/>
                <a:cs typeface="Calibri" pitchFamily="34" charset="-120"/>
              </a:rPr>
              <a:t>Transparent communication with athletes</a:t>
            </a:r>
          </a:p>
          <a:p>
            <a:pPr marL="342900" indent="-342900">
              <a:buFont typeface="Arial" panose="020B0604020202020204" pitchFamily="34" charset="0"/>
              <a:buChar char="•"/>
            </a:pPr>
            <a:endParaRPr lang="en-US" sz="2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CAC0AFB4-C06C-042B-9AE3-3498066513F7}"/>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D5CE9C5F-39CA-6B18-9630-70ECCF082952}"/>
              </a:ext>
            </a:extLst>
          </p:cNvPr>
          <p:cNvSpPr/>
          <p:nvPr/>
        </p:nvSpPr>
        <p:spPr>
          <a:xfrm>
            <a:off x="0" y="0"/>
            <a:ext cx="9144000" cy="594360"/>
          </a:xfrm>
          <a:prstGeom prst="rect">
            <a:avLst/>
          </a:prstGeom>
          <a:solidFill>
            <a:srgbClr val="1B2A4A"/>
          </a:solidFill>
          <a:ln w="12700">
            <a:solidFill>
              <a:srgbClr val="1B2A4A"/>
            </a:solidFill>
            <a:prstDash val="solid"/>
          </a:ln>
        </p:spPr>
        <p:txBody>
          <a:bodyPr/>
          <a:lstStyle/>
          <a:p>
            <a:endParaRPr lang="en-US"/>
          </a:p>
        </p:txBody>
      </p:sp>
      <p:sp>
        <p:nvSpPr>
          <p:cNvPr id="3" name="Shape 1">
            <a:extLst>
              <a:ext uri="{FF2B5EF4-FFF2-40B4-BE49-F238E27FC236}">
                <a16:creationId xmlns:a16="http://schemas.microsoft.com/office/drawing/2014/main" id="{D509B567-FCFD-2E2B-AE35-01A938FA14A7}"/>
              </a:ext>
            </a:extLst>
          </p:cNvPr>
          <p:cNvSpPr/>
          <p:nvPr/>
        </p:nvSpPr>
        <p:spPr>
          <a:xfrm>
            <a:off x="0" y="0"/>
            <a:ext cx="109728" cy="594360"/>
          </a:xfrm>
          <a:prstGeom prst="rect">
            <a:avLst/>
          </a:prstGeom>
          <a:solidFill>
            <a:srgbClr val="E8624A"/>
          </a:solidFill>
          <a:ln w="12700">
            <a:solidFill>
              <a:srgbClr val="E8624A"/>
            </a:solidFill>
            <a:prstDash val="solid"/>
          </a:ln>
        </p:spPr>
        <p:txBody>
          <a:bodyPr/>
          <a:lstStyle/>
          <a:p>
            <a:endParaRPr lang="en-US"/>
          </a:p>
        </p:txBody>
      </p:sp>
      <p:sp>
        <p:nvSpPr>
          <p:cNvPr id="4" name="Shape 2">
            <a:extLst>
              <a:ext uri="{FF2B5EF4-FFF2-40B4-BE49-F238E27FC236}">
                <a16:creationId xmlns:a16="http://schemas.microsoft.com/office/drawing/2014/main" id="{7C40E8F2-D2E8-7CF4-B77A-A807A0BF7155}"/>
              </a:ext>
            </a:extLst>
          </p:cNvPr>
          <p:cNvSpPr/>
          <p:nvPr/>
        </p:nvSpPr>
        <p:spPr>
          <a:xfrm>
            <a:off x="0" y="4887468"/>
            <a:ext cx="9144000" cy="256032"/>
          </a:xfrm>
          <a:prstGeom prst="rect">
            <a:avLst/>
          </a:prstGeom>
          <a:solidFill>
            <a:srgbClr val="1B2A4A"/>
          </a:solidFill>
          <a:ln w="12700">
            <a:solidFill>
              <a:srgbClr val="1B2A4A"/>
            </a:solidFill>
            <a:prstDash val="solid"/>
          </a:ln>
        </p:spPr>
        <p:txBody>
          <a:bodyPr/>
          <a:lstStyle/>
          <a:p>
            <a:endParaRPr lang="en-US"/>
          </a:p>
        </p:txBody>
      </p:sp>
      <p:sp>
        <p:nvSpPr>
          <p:cNvPr id="5" name="Shape 3">
            <a:extLst>
              <a:ext uri="{FF2B5EF4-FFF2-40B4-BE49-F238E27FC236}">
                <a16:creationId xmlns:a16="http://schemas.microsoft.com/office/drawing/2014/main" id="{D0020A0C-1965-F8A3-0C85-21BD5AF4C5E4}"/>
              </a:ext>
            </a:extLst>
          </p:cNvPr>
          <p:cNvSpPr/>
          <p:nvPr/>
        </p:nvSpPr>
        <p:spPr>
          <a:xfrm>
            <a:off x="0" y="4887468"/>
            <a:ext cx="109728" cy="256032"/>
          </a:xfrm>
          <a:prstGeom prst="rect">
            <a:avLst/>
          </a:prstGeom>
          <a:solidFill>
            <a:srgbClr val="E8624A"/>
          </a:solidFill>
          <a:ln w="12700">
            <a:solidFill>
              <a:srgbClr val="E8624A"/>
            </a:solidFill>
            <a:prstDash val="solid"/>
          </a:ln>
        </p:spPr>
        <p:txBody>
          <a:bodyPr/>
          <a:lstStyle/>
          <a:p>
            <a:endParaRPr lang="en-US"/>
          </a:p>
        </p:txBody>
      </p:sp>
      <p:sp>
        <p:nvSpPr>
          <p:cNvPr id="6" name="Text 4">
            <a:extLst>
              <a:ext uri="{FF2B5EF4-FFF2-40B4-BE49-F238E27FC236}">
                <a16:creationId xmlns:a16="http://schemas.microsoft.com/office/drawing/2014/main" id="{E12E4E4B-918C-BBE8-2C15-9F54647FC250}"/>
              </a:ext>
            </a:extLst>
          </p:cNvPr>
          <p:cNvSpPr/>
          <p:nvPr/>
        </p:nvSpPr>
        <p:spPr>
          <a:xfrm>
            <a:off x="228600" y="4887468"/>
            <a:ext cx="7315200" cy="256032"/>
          </a:xfrm>
          <a:prstGeom prst="rect">
            <a:avLst/>
          </a:prstGeom>
          <a:noFill/>
          <a:ln/>
        </p:spPr>
        <p:txBody>
          <a:bodyPr wrap="square" lIns="0" tIns="0" rIns="0" bIns="0" rtlCol="0" anchor="ctr"/>
          <a:lstStyle/>
          <a:p>
            <a:pPr marL="0" indent="0">
              <a:buNone/>
            </a:pPr>
            <a:endParaRPr lang="en-US" sz="800" dirty="0"/>
          </a:p>
        </p:txBody>
      </p:sp>
      <p:sp>
        <p:nvSpPr>
          <p:cNvPr id="7" name="Text 5">
            <a:extLst>
              <a:ext uri="{FF2B5EF4-FFF2-40B4-BE49-F238E27FC236}">
                <a16:creationId xmlns:a16="http://schemas.microsoft.com/office/drawing/2014/main" id="{B5FBFFC6-2847-E913-6394-4C6626F7D9E5}"/>
              </a:ext>
            </a:extLst>
          </p:cNvPr>
          <p:cNvSpPr/>
          <p:nvPr/>
        </p:nvSpPr>
        <p:spPr>
          <a:xfrm>
            <a:off x="274320" y="0"/>
            <a:ext cx="8229600" cy="594360"/>
          </a:xfrm>
          <a:prstGeom prst="rect">
            <a:avLst/>
          </a:prstGeom>
          <a:noFill/>
          <a:ln/>
        </p:spPr>
        <p:txBody>
          <a:bodyPr wrap="square" lIns="0" tIns="0" rIns="0" bIns="0" rtlCol="0" anchor="ctr"/>
          <a:lstStyle/>
          <a:p>
            <a:pPr marL="0" indent="0">
              <a:buNone/>
            </a:pPr>
            <a:r>
              <a:rPr lang="en-US" sz="1800" b="1" dirty="0">
                <a:solidFill>
                  <a:srgbClr val="FFFFFF"/>
                </a:solidFill>
                <a:latin typeface="Calibri" pitchFamily="34" charset="0"/>
                <a:ea typeface="Calibri" pitchFamily="34" charset="-122"/>
                <a:cs typeface="Calibri" pitchFamily="34" charset="-120"/>
              </a:rPr>
              <a:t>Conclusion</a:t>
            </a:r>
          </a:p>
        </p:txBody>
      </p:sp>
      <p:sp>
        <p:nvSpPr>
          <p:cNvPr id="8" name="Text 6">
            <a:extLst>
              <a:ext uri="{FF2B5EF4-FFF2-40B4-BE49-F238E27FC236}">
                <a16:creationId xmlns:a16="http://schemas.microsoft.com/office/drawing/2014/main" id="{BC43B8CF-64A1-4016-1D47-B39F457A32B0}"/>
              </a:ext>
            </a:extLst>
          </p:cNvPr>
          <p:cNvSpPr/>
          <p:nvPr/>
        </p:nvSpPr>
        <p:spPr>
          <a:xfrm>
            <a:off x="438912" y="373531"/>
            <a:ext cx="8229600" cy="4271621"/>
          </a:xfrm>
          <a:prstGeom prst="rect">
            <a:avLst/>
          </a:prstGeom>
          <a:noFill/>
          <a:ln/>
        </p:spPr>
        <p:txBody>
          <a:bodyPr wrap="square" lIns="0" tIns="0" rIns="0" bIns="0" rtlCol="0" anchor="ctr"/>
          <a:lstStyle/>
          <a:p>
            <a:pPr marL="342900" indent="-342900">
              <a:buFont typeface="Arial" panose="020B0604020202020204" pitchFamily="34" charset="0"/>
              <a:buChar char="•"/>
            </a:pPr>
            <a:r>
              <a:rPr lang="en-US" sz="2000" b="1" dirty="0"/>
              <a:t>This research is of high value to athletes and sport clubs to see what they should and shouldn’t do in order to prevent injury</a:t>
            </a:r>
          </a:p>
          <a:p>
            <a:pPr marL="342900" indent="-342900">
              <a:buFont typeface="Arial" panose="020B0604020202020204" pitchFamily="34" charset="0"/>
              <a:buChar char="•"/>
            </a:pPr>
            <a:r>
              <a:rPr lang="en-US" sz="2000" b="1" dirty="0"/>
              <a:t>Business is better for sport clubs when their athletes are healthy and playing the sport for fans to watch. Teams will being more fans in when their favorite athletes are healthy</a:t>
            </a:r>
          </a:p>
          <a:p>
            <a:pPr marL="342900" indent="-342900">
              <a:buFont typeface="Arial" panose="020B0604020202020204" pitchFamily="34" charset="0"/>
              <a:buChar char="•"/>
            </a:pPr>
            <a:r>
              <a:rPr lang="en-US" sz="2000" b="1" dirty="0"/>
              <a:t>In the future…</a:t>
            </a:r>
          </a:p>
          <a:p>
            <a:pPr marL="800100" lvl="1" indent="-342900">
              <a:buFont typeface="Arial" panose="020B0604020202020204" pitchFamily="34" charset="0"/>
              <a:buChar char="•"/>
            </a:pPr>
            <a:r>
              <a:rPr lang="en-US" sz="2000" dirty="0"/>
              <a:t>Potentially stretch research to multiple seasons</a:t>
            </a:r>
          </a:p>
          <a:p>
            <a:pPr marL="800100" lvl="1" indent="-342900">
              <a:buFont typeface="Arial" panose="020B0604020202020204" pitchFamily="34" charset="0"/>
              <a:buChar char="•"/>
            </a:pPr>
            <a:r>
              <a:rPr lang="en-US" sz="2000" dirty="0"/>
              <a:t>Diversify populations</a:t>
            </a:r>
          </a:p>
          <a:p>
            <a:pPr marL="800100" lvl="1" indent="-342900">
              <a:buFont typeface="Arial" panose="020B0604020202020204" pitchFamily="34" charset="0"/>
              <a:buChar char="•"/>
            </a:pPr>
            <a:r>
              <a:rPr lang="en-US" sz="2000" dirty="0"/>
              <a:t>Implementation of research</a:t>
            </a:r>
          </a:p>
        </p:txBody>
      </p:sp>
    </p:spTree>
    <p:extLst>
      <p:ext uri="{BB962C8B-B14F-4D97-AF65-F5344CB8AC3E}">
        <p14:creationId xmlns:p14="http://schemas.microsoft.com/office/powerpoint/2010/main" val="399717377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2571</TotalTime>
  <Words>1143</Words>
  <Application>Microsoft Macintosh PowerPoint</Application>
  <PresentationFormat>On-screen Show (16:9)</PresentationFormat>
  <Paragraphs>90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Simple Clean Template</dc:title>
  <dc:subject>PptxGenJS Presentation</dc:subject>
  <dc:creator>PptxGenJS</dc:creator>
  <cp:lastModifiedBy>Joseph R. Altmann</cp:lastModifiedBy>
  <cp:revision>5</cp:revision>
  <dcterms:created xsi:type="dcterms:W3CDTF">2026-04-03T15:59:13Z</dcterms:created>
  <dcterms:modified xsi:type="dcterms:W3CDTF">2026-04-08T17:43:18Z</dcterms:modified>
</cp:coreProperties>
</file>